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8" r:id="rId1"/>
  </p:sldMasterIdLst>
  <p:sldIdLst>
    <p:sldId id="256" r:id="rId2"/>
    <p:sldId id="258" r:id="rId3"/>
    <p:sldId id="257" r:id="rId4"/>
    <p:sldId id="261" r:id="rId5"/>
    <p:sldId id="263" r:id="rId6"/>
    <p:sldId id="259" r:id="rId7"/>
    <p:sldId id="264" r:id="rId8"/>
    <p:sldId id="269" r:id="rId9"/>
    <p:sldId id="290" r:id="rId10"/>
    <p:sldId id="291" r:id="rId11"/>
    <p:sldId id="270" r:id="rId12"/>
    <p:sldId id="271" r:id="rId13"/>
    <p:sldId id="273" r:id="rId14"/>
    <p:sldId id="274" r:id="rId15"/>
    <p:sldId id="276" r:id="rId16"/>
    <p:sldId id="277" r:id="rId17"/>
    <p:sldId id="275" r:id="rId18"/>
    <p:sldId id="316" r:id="rId19"/>
    <p:sldId id="324" r:id="rId20"/>
    <p:sldId id="266" r:id="rId21"/>
    <p:sldId id="301" r:id="rId22"/>
    <p:sldId id="302" r:id="rId23"/>
    <p:sldId id="303" r:id="rId24"/>
    <p:sldId id="304" r:id="rId25"/>
    <p:sldId id="305" r:id="rId26"/>
    <p:sldId id="306" r:id="rId27"/>
    <p:sldId id="278" r:id="rId28"/>
    <p:sldId id="279" r:id="rId29"/>
    <p:sldId id="280" r:id="rId30"/>
    <p:sldId id="281" r:id="rId31"/>
    <p:sldId id="282" r:id="rId32"/>
    <p:sldId id="317" r:id="rId33"/>
    <p:sldId id="323" r:id="rId34"/>
    <p:sldId id="267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283" r:id="rId43"/>
    <p:sldId id="284" r:id="rId44"/>
    <p:sldId id="285" r:id="rId45"/>
    <p:sldId id="293" r:id="rId46"/>
    <p:sldId id="318" r:id="rId47"/>
    <p:sldId id="322" r:id="rId48"/>
    <p:sldId id="268" r:id="rId49"/>
    <p:sldId id="292" r:id="rId50"/>
    <p:sldId id="307" r:id="rId51"/>
    <p:sldId id="308" r:id="rId52"/>
    <p:sldId id="309" r:id="rId53"/>
    <p:sldId id="310" r:id="rId54"/>
    <p:sldId id="312" r:id="rId55"/>
    <p:sldId id="313" r:id="rId56"/>
    <p:sldId id="311" r:id="rId57"/>
    <p:sldId id="314" r:id="rId58"/>
    <p:sldId id="315" r:id="rId59"/>
    <p:sldId id="286" r:id="rId60"/>
    <p:sldId id="287" r:id="rId61"/>
    <p:sldId id="288" r:id="rId62"/>
    <p:sldId id="289" r:id="rId63"/>
    <p:sldId id="319" r:id="rId64"/>
    <p:sldId id="321" r:id="rId65"/>
    <p:sldId id="320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0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1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7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0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65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5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49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6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69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675" y="1940789"/>
            <a:ext cx="8586150" cy="1437913"/>
          </a:xfrm>
        </p:spPr>
        <p:txBody>
          <a:bodyPr>
            <a:noAutofit/>
          </a:bodyPr>
          <a:lstStyle/>
          <a:p>
            <a:r>
              <a:rPr lang="en-IN" sz="4800" dirty="0">
                <a:latin typeface="Cambria" panose="02040503050406030204" pitchFamily="18" charset="0"/>
                <a:ea typeface="Cambria" panose="02040503050406030204" pitchFamily="18" charset="0"/>
              </a:rPr>
              <a:t>Data Analytics Internship </a:t>
            </a:r>
            <a:br>
              <a:rPr lang="en-IN" sz="4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4800" dirty="0">
                <a:latin typeface="Cambria" panose="02040503050406030204" pitchFamily="18" charset="0"/>
                <a:ea typeface="Cambria" panose="02040503050406030204" pitchFamily="18" charset="0"/>
              </a:rPr>
              <a:t>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675" y="3740870"/>
            <a:ext cx="8586150" cy="2463361"/>
          </a:xfrm>
        </p:spPr>
        <p:txBody>
          <a:bodyPr>
            <a:normAutofit/>
          </a:bodyPr>
          <a:lstStyle/>
          <a:p>
            <a:pPr algn="ctr"/>
            <a:r>
              <a:rPr dirty="0"/>
              <a:t>Power BI</a:t>
            </a:r>
            <a:r>
              <a:rPr lang="en-IN" dirty="0"/>
              <a:t> </a:t>
            </a:r>
            <a:r>
              <a:rPr dirty="0"/>
              <a:t> </a:t>
            </a:r>
            <a:r>
              <a:rPr lang="en-IN" dirty="0"/>
              <a:t>  </a:t>
            </a:r>
            <a:r>
              <a:rPr dirty="0"/>
              <a:t> </a:t>
            </a:r>
            <a:r>
              <a:rPr lang="en-IN" dirty="0"/>
              <a:t>   </a:t>
            </a:r>
            <a:r>
              <a:rPr dirty="0"/>
              <a:t>Python</a:t>
            </a:r>
            <a:r>
              <a:rPr lang="en-IN" dirty="0"/>
              <a:t>  </a:t>
            </a:r>
            <a:r>
              <a:rPr dirty="0"/>
              <a:t>  </a:t>
            </a:r>
            <a:r>
              <a:rPr lang="en-IN" dirty="0"/>
              <a:t>   </a:t>
            </a:r>
            <a:r>
              <a:rPr dirty="0"/>
              <a:t>SQL </a:t>
            </a:r>
            <a:r>
              <a:rPr lang="en-IN" dirty="0"/>
              <a:t>       Excel </a:t>
            </a:r>
          </a:p>
          <a:p>
            <a:pPr algn="ctr"/>
            <a:br>
              <a:rPr lang="en-IN" dirty="0"/>
            </a:br>
            <a:endParaRPr lang="en-IN" dirty="0"/>
          </a:p>
          <a:p>
            <a:r>
              <a:rPr lang="en-IN" dirty="0"/>
              <a:t>Presented by: Kavita Bijarniya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B54EAF7-180E-4982-7BBA-2A2D3213A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337" y="3823623"/>
            <a:ext cx="259908" cy="30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B9B0DE3-1DAF-4403-88A3-2D64CADE4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760" y="3823624"/>
            <a:ext cx="301659" cy="30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C2D0A1B-BC26-68D6-2EA1-28E2EE116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971" y="3791850"/>
            <a:ext cx="226707" cy="27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332022F-020D-64E5-C2E8-B52ABF3F7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127" y="3767931"/>
            <a:ext cx="279663" cy="27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AD9117-2DAA-DCD3-BD31-C143B64CB7F8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4261F-00F3-FF5D-3E45-C0B8E2759572}"/>
              </a:ext>
            </a:extLst>
          </p:cNvPr>
          <p:cNvSpPr txBox="1"/>
          <p:nvPr/>
        </p:nvSpPr>
        <p:spPr>
          <a:xfrm>
            <a:off x="8959174" y="6488668"/>
            <a:ext cx="323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Unified Mentor Private Limited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AF67D-FB22-0D72-7E68-1B84D123D151}"/>
              </a:ext>
            </a:extLst>
          </p:cNvPr>
          <p:cNvSpPr txBox="1"/>
          <p:nvPr/>
        </p:nvSpPr>
        <p:spPr>
          <a:xfrm flipH="1">
            <a:off x="1187777" y="786306"/>
            <a:ext cx="10369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Book Antiqua" panose="02040602050305030304" pitchFamily="18" charset="0"/>
              </a:rPr>
              <a:t>Unified Mentor Private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465" y="126461"/>
            <a:ext cx="5126476" cy="661480"/>
          </a:xfrm>
        </p:spPr>
        <p:txBody>
          <a:bodyPr>
            <a:normAutofit/>
          </a:bodyPr>
          <a:lstStyle/>
          <a:p>
            <a:r>
              <a:rPr sz="3600" dirty="0"/>
              <a:t>Tools &amp; 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17AFB2-D514-DEF6-B993-EBA28A57B8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348607"/>
              </p:ext>
            </p:extLst>
          </p:nvPr>
        </p:nvGraphicFramePr>
        <p:xfrm>
          <a:off x="1244338" y="1253764"/>
          <a:ext cx="9822496" cy="428920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911248">
                  <a:extLst>
                    <a:ext uri="{9D8B030D-6E8A-4147-A177-3AD203B41FA5}">
                      <a16:colId xmlns:a16="http://schemas.microsoft.com/office/drawing/2014/main" val="3717021513"/>
                    </a:ext>
                  </a:extLst>
                </a:gridCol>
                <a:gridCol w="4911248">
                  <a:extLst>
                    <a:ext uri="{9D8B030D-6E8A-4147-A177-3AD203B41FA5}">
                      <a16:colId xmlns:a16="http://schemas.microsoft.com/office/drawing/2014/main" val="3941864824"/>
                    </a:ext>
                  </a:extLst>
                </a:gridCol>
              </a:tblGrid>
              <a:tr h="714867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047091"/>
                  </a:ext>
                </a:extLst>
              </a:tr>
              <a:tr h="714867">
                <a:tc>
                  <a:txBody>
                    <a:bodyPr/>
                    <a:lstStyle/>
                    <a:p>
                      <a:r>
                        <a:rPr lang="en-IN" sz="1600" b="1" dirty="0"/>
                        <a:t>Excel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Data preprocessing and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521078"/>
                  </a:ext>
                </a:extLst>
              </a:tr>
              <a:tr h="714867">
                <a:tc>
                  <a:txBody>
                    <a:bodyPr/>
                    <a:lstStyle/>
                    <a:p>
                      <a:r>
                        <a:rPr lang="en-IN" sz="1600" b="1" dirty="0"/>
                        <a:t>Python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Data cleaning, EDA, and 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221638"/>
                  </a:ext>
                </a:extLst>
              </a:tr>
              <a:tr h="714867">
                <a:tc>
                  <a:txBody>
                    <a:bodyPr/>
                    <a:lstStyle/>
                    <a:p>
                      <a:r>
                        <a:rPr lang="en-IN" sz="1600" b="1"/>
                        <a:t>SQL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Querying, filtering, and joining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414050"/>
                  </a:ext>
                </a:extLst>
              </a:tr>
              <a:tr h="714867">
                <a:tc>
                  <a:txBody>
                    <a:bodyPr/>
                    <a:lstStyle/>
                    <a:p>
                      <a:r>
                        <a:rPr lang="en-IN" sz="1600" b="1"/>
                        <a:t>Power BI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Dashboarding and storytelling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31465"/>
                  </a:ext>
                </a:extLst>
              </a:tr>
              <a:tr h="714867">
                <a:tc>
                  <a:txBody>
                    <a:bodyPr/>
                    <a:lstStyle/>
                    <a:p>
                      <a:r>
                        <a:rPr lang="en-IN" sz="1600" b="1"/>
                        <a:t>Libraries Used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Pandas, Matplotlib, Seaborn, 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13841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B876F9F-E0B7-1C30-B0EC-13E02CEE568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09" y="116732"/>
            <a:ext cx="9760660" cy="683518"/>
          </a:xfrm>
        </p:spPr>
        <p:txBody>
          <a:bodyPr>
            <a:noAutofit/>
          </a:bodyPr>
          <a:lstStyle/>
          <a:p>
            <a:r>
              <a:rPr lang="en-IN" sz="3600" dirty="0"/>
              <a:t>Project Overview</a:t>
            </a:r>
            <a:endParaRPr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CDA6F6-2449-7C38-4F9B-AFB8DD7E76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177182"/>
              </p:ext>
            </p:extLst>
          </p:nvPr>
        </p:nvGraphicFramePr>
        <p:xfrm>
          <a:off x="1019499" y="1062722"/>
          <a:ext cx="10437780" cy="474418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03190">
                  <a:extLst>
                    <a:ext uri="{9D8B030D-6E8A-4147-A177-3AD203B41FA5}">
                      <a16:colId xmlns:a16="http://schemas.microsoft.com/office/drawing/2014/main" val="2171663863"/>
                    </a:ext>
                  </a:extLst>
                </a:gridCol>
                <a:gridCol w="3815700">
                  <a:extLst>
                    <a:ext uri="{9D8B030D-6E8A-4147-A177-3AD203B41FA5}">
                      <a16:colId xmlns:a16="http://schemas.microsoft.com/office/drawing/2014/main" val="2991918716"/>
                    </a:ext>
                  </a:extLst>
                </a:gridCol>
                <a:gridCol w="2609445">
                  <a:extLst>
                    <a:ext uri="{9D8B030D-6E8A-4147-A177-3AD203B41FA5}">
                      <a16:colId xmlns:a16="http://schemas.microsoft.com/office/drawing/2014/main" val="631464545"/>
                    </a:ext>
                  </a:extLst>
                </a:gridCol>
                <a:gridCol w="2609445">
                  <a:extLst>
                    <a:ext uri="{9D8B030D-6E8A-4147-A177-3AD203B41FA5}">
                      <a16:colId xmlns:a16="http://schemas.microsoft.com/office/drawing/2014/main" val="2134384891"/>
                    </a:ext>
                  </a:extLst>
                </a:gridCol>
              </a:tblGrid>
              <a:tr h="992971"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Project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Domain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Tools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104723"/>
                  </a:ext>
                </a:extLst>
              </a:tr>
              <a:tr h="1103299"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Supply Chain Management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Forecasting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Excel, Python, Power BI,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926061"/>
                  </a:ext>
                </a:extLst>
              </a:tr>
              <a:tr h="1103299"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Google Play Store Apps Rating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App Market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Excel, Python, Power BI,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169175"/>
                  </a:ext>
                </a:extLst>
              </a:tr>
              <a:tr h="772309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Customer Satisfaction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Predictive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Excel, Python, Power BI,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486803"/>
                  </a:ext>
                </a:extLst>
              </a:tr>
              <a:tr h="772309"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Daily Transaction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Financial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Excel, Python, 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41905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6DBA160-FDAB-E771-AAAD-4155AB3C5C78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827" y="165370"/>
            <a:ext cx="6400800" cy="661481"/>
          </a:xfrm>
        </p:spPr>
        <p:txBody>
          <a:bodyPr>
            <a:normAutofit/>
          </a:bodyPr>
          <a:lstStyle/>
          <a:p>
            <a:r>
              <a:rPr lang="en-IN" sz="3600" dirty="0"/>
              <a:t>Summary of Project Goals</a:t>
            </a:r>
            <a:endParaRPr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95ECE5-B5D9-DA47-C07C-FD6366477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704570"/>
              </p:ext>
            </p:extLst>
          </p:nvPr>
        </p:nvGraphicFramePr>
        <p:xfrm>
          <a:off x="1092505" y="1035344"/>
          <a:ext cx="10165406" cy="47904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082703">
                  <a:extLst>
                    <a:ext uri="{9D8B030D-6E8A-4147-A177-3AD203B41FA5}">
                      <a16:colId xmlns:a16="http://schemas.microsoft.com/office/drawing/2014/main" val="217280889"/>
                    </a:ext>
                  </a:extLst>
                </a:gridCol>
                <a:gridCol w="5082703">
                  <a:extLst>
                    <a:ext uri="{9D8B030D-6E8A-4147-A177-3AD203B41FA5}">
                      <a16:colId xmlns:a16="http://schemas.microsoft.com/office/drawing/2014/main" val="1688752187"/>
                    </a:ext>
                  </a:extLst>
                </a:gridCol>
              </a:tblGrid>
              <a:tr h="88711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Key 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938002"/>
                  </a:ext>
                </a:extLst>
              </a:tr>
              <a:tr h="1241960">
                <a:tc>
                  <a:txBody>
                    <a:bodyPr/>
                    <a:lstStyle/>
                    <a:p>
                      <a:r>
                        <a:rPr lang="en-IN" sz="1600" dirty="0"/>
                        <a:t>Supply 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Demand forecasting and supply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846812"/>
                  </a:ext>
                </a:extLst>
              </a:tr>
              <a:tr h="709692">
                <a:tc>
                  <a:txBody>
                    <a:bodyPr/>
                    <a:lstStyle/>
                    <a:p>
                      <a:r>
                        <a:rPr lang="en-IN" sz="1600" dirty="0"/>
                        <a:t>Play Store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Identify factors influencing app success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083893"/>
                  </a:ext>
                </a:extLst>
              </a:tr>
              <a:tr h="709692">
                <a:tc>
                  <a:txBody>
                    <a:bodyPr/>
                    <a:lstStyle/>
                    <a:p>
                      <a:r>
                        <a:rPr lang="en-IN" sz="1600" dirty="0"/>
                        <a:t>Customer 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Predict satisfaction using service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834154"/>
                  </a:ext>
                </a:extLst>
              </a:tr>
              <a:tr h="1241960">
                <a:tc>
                  <a:txBody>
                    <a:bodyPr/>
                    <a:lstStyle/>
                    <a:p>
                      <a:r>
                        <a:rPr lang="en-IN" sz="1600"/>
                        <a:t>Daily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Analyze</a:t>
                      </a:r>
                      <a:r>
                        <a:rPr lang="en-IN" sz="1600" dirty="0"/>
                        <a:t> and visualize personal finance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75871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89098DB-ADF9-6A08-0A39-AC7744FB54DA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5098"/>
            <a:ext cx="10515600" cy="707010"/>
          </a:xfrm>
        </p:spPr>
        <p:txBody>
          <a:bodyPr>
            <a:normAutofit/>
          </a:bodyPr>
          <a:lstStyle/>
          <a:p>
            <a:r>
              <a:rPr lang="en-IN" dirty="0"/>
              <a:t>Tools &amp; Workflow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7204"/>
            <a:ext cx="10515600" cy="4979759"/>
          </a:xfrm>
        </p:spPr>
        <p:txBody>
          <a:bodyPr>
            <a:normAutofit fontScale="92500" lnSpcReduction="10000"/>
          </a:bodyPr>
          <a:lstStyle/>
          <a:p>
            <a:pPr marL="36900" indent="0" algn="ctr">
              <a:buNone/>
            </a:pPr>
            <a:r>
              <a:rPr lang="en-IN" dirty="0"/>
              <a:t>Data Collection (Excel / CSV Files)</a:t>
            </a:r>
          </a:p>
          <a:p>
            <a:pPr marL="36900" indent="0" algn="ctr">
              <a:buNone/>
            </a:pPr>
            <a:r>
              <a:rPr lang="en-IN" dirty="0"/>
              <a:t>       ↓</a:t>
            </a:r>
          </a:p>
          <a:p>
            <a:pPr marL="36900" indent="0" algn="ctr">
              <a:buNone/>
            </a:pPr>
            <a:r>
              <a:rPr lang="en-IN" dirty="0"/>
              <a:t>Data Cleaning &amp; EDA (Python /SQL)</a:t>
            </a:r>
          </a:p>
          <a:p>
            <a:pPr marL="36900" indent="0" algn="ctr">
              <a:buNone/>
            </a:pPr>
            <a:r>
              <a:rPr lang="en-IN" dirty="0"/>
              <a:t>       ↓</a:t>
            </a:r>
          </a:p>
          <a:p>
            <a:pPr marL="36900" indent="0" algn="ctr">
              <a:buNone/>
            </a:pPr>
            <a:r>
              <a:rPr lang="en-IN" dirty="0"/>
              <a:t>Feature Engineering(Python)</a:t>
            </a:r>
          </a:p>
          <a:p>
            <a:pPr marL="36900" indent="0" algn="ctr">
              <a:buNone/>
            </a:pPr>
            <a:r>
              <a:rPr lang="en-IN" dirty="0"/>
              <a:t>       ↓</a:t>
            </a:r>
          </a:p>
          <a:p>
            <a:pPr marL="36900" indent="0" algn="ctr">
              <a:buNone/>
            </a:pPr>
            <a:r>
              <a:rPr lang="en-IN" dirty="0"/>
              <a:t>Machine Learning Model (Model Building)</a:t>
            </a:r>
          </a:p>
          <a:p>
            <a:pPr marL="36900" indent="0" algn="ctr">
              <a:buNone/>
            </a:pPr>
            <a:r>
              <a:rPr lang="en-IN" dirty="0"/>
              <a:t>       ↓</a:t>
            </a:r>
          </a:p>
          <a:p>
            <a:pPr marL="36900" indent="0" algn="ctr">
              <a:buNone/>
            </a:pPr>
            <a:r>
              <a:rPr lang="en-IN" dirty="0"/>
              <a:t>Visualization (Power BI)</a:t>
            </a:r>
          </a:p>
          <a:p>
            <a:pPr marL="36900" indent="0" algn="ctr">
              <a:buNone/>
            </a:pPr>
            <a:r>
              <a:rPr lang="en-IN" dirty="0"/>
              <a:t>       ↓</a:t>
            </a:r>
          </a:p>
          <a:p>
            <a:pPr marL="36900" indent="0" algn="ctr">
              <a:buNone/>
            </a:pPr>
            <a:r>
              <a:rPr lang="en-IN" dirty="0"/>
              <a:t>Deployment (</a:t>
            </a:r>
            <a:r>
              <a:rPr lang="en-IN" dirty="0" err="1"/>
              <a:t>Streamlit</a:t>
            </a:r>
            <a:r>
              <a:rPr lang="en-IN" dirty="0"/>
              <a:t> App)</a:t>
            </a:r>
          </a:p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44C80E-94B6-63DB-40F8-6BA54D49C40D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068" y="311084"/>
            <a:ext cx="9811732" cy="636307"/>
          </a:xfrm>
        </p:spPr>
        <p:txBody>
          <a:bodyPr>
            <a:normAutofit fontScale="90000"/>
          </a:bodyPr>
          <a:lstStyle/>
          <a:p>
            <a:r>
              <a:rPr lang="en-US" dirty="0"/>
              <a:t>  Project 1: Supply Chain Management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605" y="1084082"/>
            <a:ext cx="9879291" cy="5137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📘 Overview:</a:t>
            </a:r>
            <a:br>
              <a:rPr lang="en-US" b="1" dirty="0"/>
            </a:br>
            <a:br>
              <a:rPr lang="en-US" dirty="0"/>
            </a:br>
            <a:r>
              <a:rPr lang="en-US" sz="1900" dirty="0"/>
              <a:t>Supply chain analytics helps organizations optimize operations by analyzing data from production to delivery.</a:t>
            </a:r>
            <a:br>
              <a:rPr lang="en-US" sz="1900" dirty="0"/>
            </a:br>
            <a:r>
              <a:rPr lang="en-US" sz="1900" dirty="0"/>
              <a:t>This dataset, collected from a fashion and beauty startup, covers makeup product supply chains.</a:t>
            </a:r>
            <a:br>
              <a:rPr lang="en-US" dirty="0"/>
            </a:br>
            <a:endParaRPr lang="en-US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🧩 Features Include:</a:t>
            </a:r>
            <a:br>
              <a:rPr lang="en-US" b="1" dirty="0"/>
            </a:br>
            <a:br>
              <a:rPr lang="en-US" dirty="0"/>
            </a:br>
            <a:r>
              <a:rPr lang="en-US" sz="1900" dirty="0"/>
              <a:t>Product type, SKU, price, availability, stock levels, lead times, manufacturing costs, defect rates, transportation modes, etc.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🎯 Problem Statement:</a:t>
            </a:r>
            <a:br>
              <a:rPr lang="en-US" b="1" dirty="0"/>
            </a:br>
            <a:br>
              <a:rPr lang="en-US" dirty="0"/>
            </a:br>
            <a:r>
              <a:rPr lang="en-US" sz="1900" dirty="0"/>
              <a:t>Implement a demand forecasting model to optimize supply chain management through data-driven decisions on inventory, supplier performance, and logistics.</a:t>
            </a:r>
            <a:br>
              <a:rPr lang="en-US" dirty="0"/>
            </a:br>
            <a:endParaRPr lang="en-US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🛠 Tools Used:</a:t>
            </a:r>
            <a:br>
              <a:rPr lang="en-US" dirty="0"/>
            </a:br>
            <a:r>
              <a:rPr lang="en-US" sz="1900" dirty="0"/>
              <a:t>Excel | Python | Power BI | SQL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0E614D-E94C-5B3B-D4E8-4B7A1E2B0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50" y="318151"/>
            <a:ext cx="636307" cy="636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391211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Python: Data Preparation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476054"/>
            <a:ext cx="9013135" cy="43787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#Import necessary Libraries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matplotlib inline</a:t>
            </a: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plotly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px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timedelta</a:t>
            </a:r>
            <a:b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RobustScaler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LabelEncoder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RandomForestRegressor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GradientBoostingRegressor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VotingRegressor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mean_absolute_error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#load data</a:t>
            </a:r>
            <a:br>
              <a:rPr lang="en-US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"E:/Unified_Mentor_Internship_Project/Supply chain/supply_chain_data.csv"</a:t>
            </a:r>
            <a:r>
              <a:rPr lang="en-US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#print first 3 rows</a:t>
            </a: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30E20-9FA7-AF24-765B-73D360DC0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33" y="4854805"/>
            <a:ext cx="6410227" cy="1527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872448-F7A3-E633-4F13-E8589C523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761" y="4854805"/>
            <a:ext cx="4320618" cy="15271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999" y="65990"/>
            <a:ext cx="9201672" cy="461912"/>
          </a:xfrm>
        </p:spPr>
        <p:txBody>
          <a:bodyPr>
            <a:normAutofit/>
          </a:bodyPr>
          <a:lstStyle/>
          <a:p>
            <a:r>
              <a:rPr lang="en-IN" sz="2400" dirty="0"/>
              <a:t>Python: 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693" y="603315"/>
            <a:ext cx="9097976" cy="5627803"/>
          </a:xfrm>
        </p:spPr>
        <p:txBody>
          <a:bodyPr>
            <a:noAutofit/>
          </a:bodyPr>
          <a:lstStyle/>
          <a:p>
            <a:pPr marL="36900" indent="0" algn="just">
              <a:buNone/>
            </a:pP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Clean data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36900" indent="0" algn="just">
              <a:buNone/>
            </a:pPr>
            <a:b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missing values numeric value with median, categorical value with mode </a:t>
            </a:r>
            <a:r>
              <a:rPr lang="en-IN" sz="110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andoutlier</a:t>
            </a: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with 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numerical_cols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select_dtypes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numerical_cols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 algn="just">
              <a:buNone/>
            </a:pPr>
            <a:b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categorical_cols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select_dtypes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'object'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categorical_cols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()[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 algn="just">
              <a:buNone/>
            </a:pPr>
            <a:b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outliers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products sold'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quantile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products sold'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quantile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products sold'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products sold'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Q3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 algn="just">
              <a:buNone/>
            </a:pP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36900" indent="0" algn="just">
              <a:buNone/>
            </a:pPr>
            <a:b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"✅ Data cleaned. Final records: </a:t>
            </a:r>
            <a:r>
              <a:rPr lang="en-IN" sz="11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1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 algn="just">
              <a:buNone/>
            </a:pPr>
            <a:endParaRPr lang="en-US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endParaRPr sz="1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036719-0B43-C793-3716-E25943F04B1F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223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999" y="65990"/>
            <a:ext cx="9201672" cy="480766"/>
          </a:xfrm>
        </p:spPr>
        <p:txBody>
          <a:bodyPr>
            <a:normAutofit/>
          </a:bodyPr>
          <a:lstStyle/>
          <a:p>
            <a:r>
              <a:rPr lang="en-IN" sz="2400" dirty="0"/>
              <a:t>Python: </a:t>
            </a:r>
            <a:r>
              <a:rPr lang="en-IN" sz="2400" dirty="0">
                <a:effectLst/>
              </a:rPr>
              <a:t>Exploratory Data Analysis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693" y="546756"/>
            <a:ext cx="9097976" cy="5684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Correlation Heatmap</a:t>
            </a:r>
            <a:endParaRPr lang="en-IN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heatmap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corr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numeric_only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annot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cmap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coolwarm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"Correlation Between Numerical Features"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36900" indent="0" algn="just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endParaRPr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72691-D20C-EAA9-2245-9CBEFA8D81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6693" y="2064470"/>
            <a:ext cx="7249212" cy="43740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FB3DD-4307-1F3A-66F3-2880B488900F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3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416"/>
            <a:ext cx="10515600" cy="443058"/>
          </a:xfrm>
        </p:spPr>
        <p:txBody>
          <a:bodyPr>
            <a:normAutofit/>
          </a:bodyPr>
          <a:lstStyle/>
          <a:p>
            <a:r>
              <a:rPr lang="en-IN" sz="2400" dirty="0"/>
              <a:t>Python: </a:t>
            </a:r>
            <a:r>
              <a:rPr lang="en-IN" sz="2400" dirty="0">
                <a:effectLst/>
              </a:rPr>
              <a:t>Exploratory Data Analysis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41024"/>
            <a:ext cx="5181600" cy="5535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Interactive Revenue Trend</a:t>
            </a:r>
            <a:endParaRPr lang="en-IN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'Product type'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'Revenue generated'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reset_index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'Product type'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'Revenue generated'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'Product type'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"Interactive Revenue by Product Type"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36900" indent="0" algn="just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 algn="just">
              <a:buNone/>
            </a:pPr>
            <a:endParaRPr sz="1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39F114A-BE92-399F-525A-C46D0A464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18474"/>
            <a:ext cx="5181600" cy="5658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Stock vs Lead Time</a:t>
            </a:r>
            <a:endParaRPr lang="en-IN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scatterplot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 levels'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'Lead times'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hue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'Product type'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 Levels vs Lead Times"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IN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FF1E7-B844-E2AE-43D4-6E9BB73D1D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8199" y="2799760"/>
            <a:ext cx="5185529" cy="3233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78BDC-4B04-EFE0-840E-FA20BB4D9B6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55428" y="2732105"/>
            <a:ext cx="5181600" cy="330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779E21-B87E-A3B5-FF7C-F310CB9B14B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63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11" y="348792"/>
            <a:ext cx="9267660" cy="546754"/>
          </a:xfrm>
        </p:spPr>
        <p:txBody>
          <a:bodyPr>
            <a:normAutofit fontScale="90000"/>
          </a:bodyPr>
          <a:lstStyle/>
          <a:p>
            <a:r>
              <a:rPr lang="en-IN" sz="2700" dirty="0"/>
              <a:t>Python: </a:t>
            </a:r>
            <a:r>
              <a:rPr lang="en-IN" sz="2700" dirty="0">
                <a:effectLst/>
              </a:rPr>
              <a:t>Feature Engineering</a:t>
            </a:r>
            <a:br>
              <a:rPr lang="en-IN" dirty="0">
                <a:effectLst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011" y="612742"/>
            <a:ext cx="9267658" cy="5618377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#Feature Engineering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Business metrics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Revenue_per_Unit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'Revenue generated'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products sold'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Stock_Availability_Ratio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'Availability'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Inventory_Turnover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products sold'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 levels'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Supply_Efficiency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'Order quantities'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'Lead times'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Shipping_Efficiency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'Order quantities'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'Shipping times'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Cost_per_Unit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'Manufacturing costs'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'Shipping costs'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'Production volumes'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Profit_per_Unit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Revenue_per_Unit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Cost_per_Unit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Quality_Score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'Defect rates'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Lead_Time_Total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'Lead times'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'Manufacturing lead time'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Price_to_Cost_Ratio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Cost_per_Unit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b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Categorical indicators</a:t>
            </a:r>
            <a:endParaRPr lang="en-IN" sz="11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Low_Stock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 levels'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 levels'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Premium_Product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1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quantile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en-IN" sz="11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11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 algn="just">
              <a:buNone/>
            </a:pPr>
            <a:endParaRPr sz="1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D228A2-80D6-2EE5-8631-01BFB1CECDE3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91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9938"/>
            <a:ext cx="10515600" cy="461914"/>
          </a:xfrm>
        </p:spPr>
        <p:txBody>
          <a:bodyPr>
            <a:normAutofit fontScale="90000"/>
          </a:bodyPr>
          <a:lstStyle/>
          <a:p>
            <a:r>
              <a:rPr lang="en-IN" sz="2700" dirty="0"/>
              <a:t>Python: </a:t>
            </a:r>
            <a:r>
              <a:rPr lang="en-IN" sz="2700" dirty="0">
                <a:effectLst/>
              </a:rPr>
              <a:t>Model Building</a:t>
            </a:r>
            <a:br>
              <a:rPr lang="en-IN" dirty="0">
                <a:effectLst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6E248-CCBA-EE46-6609-B2BC4EF23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462"/>
            <a:ext cx="10515600" cy="559250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PART 3: PREPARE FOR MODELING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products sold'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feature_columns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 marL="0" indent="0"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'Availability'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'Product 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type_encoded'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levels'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'Lead times'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'Order 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quantities'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'Lead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time'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'Production volumes'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'Manufacturing lead time'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'Shipping times'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'Shipping costs'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'Shipping 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carriers_encoded'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'Transportation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modes_encoded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Routes_encoded'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'Supplier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name_encoded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Location_encoded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'Defect rates'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'Inspection 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results_encoded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Quality_Score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'Manufacturing costs'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'Costs'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Cost_per_Unit'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'Customer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demographics_encoded'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Stock_Availability_Ratio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'Inventory_Turnover'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Supply_Efficiency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'Shipping_Efficiency'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Lead_Time_Total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Low_Stock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Premium_Product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feature_columns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feature_columns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feature_columns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Train-test split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shuffle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C545F-286C-6C59-0202-EA392BC086F3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78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877" y="141403"/>
            <a:ext cx="9314794" cy="381785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Python: Data Building &amp; </a:t>
            </a:r>
            <a:r>
              <a:rPr lang="en-IN" sz="2400" dirty="0" err="1"/>
              <a:t>Evalution</a:t>
            </a:r>
            <a:endParaRPr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2FC7BC-97B2-E23B-3F31-A7BA5DC85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" y="5275954"/>
            <a:ext cx="8587819" cy="1153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930A54-BBA6-DCA8-BCCA-59D89603D2FB}"/>
              </a:ext>
            </a:extLst>
          </p:cNvPr>
          <p:cNvSpPr txBox="1"/>
          <p:nvPr/>
        </p:nvSpPr>
        <p:spPr>
          <a:xfrm>
            <a:off x="659877" y="722148"/>
            <a:ext cx="8089823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ENSEMBLE MODEL (BEST PERFORMER!)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ensemble_model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VotingRegressor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'rf'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'Random Forest'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gb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'Gradient Boosting'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ensemble_model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X_train_scaled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y_pred_ensemble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ensemble_model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ensemble_r2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y_pred_ensemble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ensemble_rmse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y_pred_ensemble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ensemble_mae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y_pred_ensemble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✅ ENSEMBLE Results:"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R²: 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ensemble_r2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:.4f}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| RMSE: 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ensemble_rmse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| MAE: 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ensemble_mae</a:t>
            </a:r>
            <a:r>
              <a:rPr lang="en-IN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F604A-909A-1F57-89F1-4F6E646CF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7" y="3282936"/>
            <a:ext cx="8504657" cy="4572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948C7B-7A6C-0247-2826-D69C5297078B}"/>
              </a:ext>
            </a:extLst>
          </p:cNvPr>
          <p:cNvSpPr txBox="1"/>
          <p:nvPr/>
        </p:nvSpPr>
        <p:spPr>
          <a:xfrm>
            <a:off x="659877" y="3983049"/>
            <a:ext cx="858781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Compare all models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📊 MODEL COMPARISON:"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:&lt;25}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'R² Score'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'RMSE'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'MAE'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:&lt;25}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'r2'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:&lt;12.4f}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'Ensemble (BEST)'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:&lt;25}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ensemble_r2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:&lt;12.4f}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ensemble_rmse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ensemble_mae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49093-0915-0C4B-4A58-6F0448BC027F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3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089" y="1"/>
            <a:ext cx="9685582" cy="518473"/>
          </a:xfrm>
        </p:spPr>
        <p:txBody>
          <a:bodyPr>
            <a:noAutofit/>
          </a:bodyPr>
          <a:lstStyle/>
          <a:p>
            <a:r>
              <a:rPr lang="en-IN" sz="3200" dirty="0"/>
              <a:t>Power BI </a:t>
            </a:r>
            <a:endParaRPr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764169-C0EF-E137-4B5F-BE2898AB9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8" y="587603"/>
            <a:ext cx="11569832" cy="57566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28DB4F-BFB9-3547-72EC-30AFB1EE1EB4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82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E4B037-51C6-33FE-8F23-E6D3CA9A1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85" y="680158"/>
            <a:ext cx="11594969" cy="557923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433F931-C586-2B75-50DB-5BC1C1CD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15" y="0"/>
            <a:ext cx="6099143" cy="518474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Power BI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6CA74C-3678-A169-0FE7-6B042068758F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115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7" y="1"/>
            <a:ext cx="9493903" cy="461912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CB744-9EE3-3553-5435-FEF44308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1" y="500452"/>
            <a:ext cx="11736370" cy="58437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8E6183-E28D-7DFE-8AB3-8EAE543B615D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47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0A5D77-68B3-A73F-CFB8-B01B718FD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18"/>
          <a:stretch/>
        </p:blipFill>
        <p:spPr>
          <a:xfrm>
            <a:off x="1008453" y="447378"/>
            <a:ext cx="4196940" cy="27577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2F07C4-76C0-D19F-E443-06C4A5AF5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889" y="447379"/>
            <a:ext cx="4451463" cy="27577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F8056D-B73E-68AE-FAB2-7FBF3628B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53" y="3429000"/>
            <a:ext cx="4196940" cy="30128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300E8D-4936-AA6A-5A8D-7A4630243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88" y="3429000"/>
            <a:ext cx="4451463" cy="3012864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B7D0928-6172-5214-7039-CB43E601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7" y="1"/>
            <a:ext cx="2608084" cy="358218"/>
          </a:xfrm>
        </p:spPr>
        <p:txBody>
          <a:bodyPr>
            <a:noAutofit/>
          </a:bodyPr>
          <a:lstStyle/>
          <a:p>
            <a:r>
              <a:rPr lang="en-IN" sz="3200" dirty="0"/>
              <a:t>SQL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5FF8FD-23DB-7248-925D-EAE1FC2A3244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360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59" y="311084"/>
            <a:ext cx="10944519" cy="636307"/>
          </a:xfrm>
        </p:spPr>
        <p:txBody>
          <a:bodyPr>
            <a:noAutofit/>
          </a:bodyPr>
          <a:lstStyle/>
          <a:p>
            <a:r>
              <a:rPr lang="en-US" sz="3200" dirty="0"/>
              <a:t>Supply Chain Management Analysis – Problem, Solution &amp; Result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354" y="1131216"/>
            <a:ext cx="9879291" cy="49537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Problem:</a:t>
            </a:r>
            <a:br>
              <a:rPr lang="en-US" sz="2600" b="1" dirty="0">
                <a:solidFill>
                  <a:srgbClr val="FFC000"/>
                </a:solidFill>
              </a:rPr>
            </a:br>
            <a:br>
              <a:rPr lang="en-US" sz="2100" b="1" dirty="0"/>
            </a:br>
            <a:r>
              <a:rPr lang="en-US" sz="2100" dirty="0"/>
              <a:t>Inefficient demand forecasting and supply chain operations led to overstocking, supplier delays, and increased logistics costs.</a:t>
            </a:r>
            <a:br>
              <a:rPr lang="en-US" dirty="0"/>
            </a:br>
            <a:endParaRPr lang="en-US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Solution:</a:t>
            </a:r>
            <a:br>
              <a:rPr lang="en-US" sz="2600" b="1" dirty="0">
                <a:solidFill>
                  <a:srgbClr val="FFC000"/>
                </a:solidFill>
              </a:rPr>
            </a:br>
            <a:br>
              <a:rPr lang="en-US" b="1" dirty="0"/>
            </a:br>
            <a:r>
              <a:rPr lang="en-IN" sz="2100" b="1" dirty="0"/>
              <a:t>• </a:t>
            </a:r>
            <a:r>
              <a:rPr lang="en-US" sz="2100" dirty="0"/>
              <a:t>Built an end-to-end data pipeline integrating SQL, Python, and Power BI.</a:t>
            </a:r>
            <a:br>
              <a:rPr lang="en-US" sz="2100" dirty="0"/>
            </a:br>
            <a:r>
              <a:rPr lang="en-IN" sz="2300" dirty="0"/>
              <a:t>• </a:t>
            </a:r>
            <a:r>
              <a:rPr lang="en-US" sz="2100" dirty="0"/>
              <a:t>Developed a </a:t>
            </a:r>
            <a:r>
              <a:rPr lang="en-US" sz="2100" b="1" dirty="0"/>
              <a:t>demand forecasting model</a:t>
            </a:r>
            <a:r>
              <a:rPr lang="en-US" sz="2100" dirty="0"/>
              <a:t> (Ensemble – R² = 0.66, RMSE = 179.74) to predict  product demand</a:t>
            </a:r>
            <a:r>
              <a:rPr lang="en-US" sz="2300" dirty="0"/>
              <a:t>.</a:t>
            </a:r>
            <a:br>
              <a:rPr lang="en-US" sz="2300" dirty="0"/>
            </a:br>
            <a:r>
              <a:rPr lang="en-IN" sz="2300" dirty="0"/>
              <a:t>• </a:t>
            </a:r>
            <a:r>
              <a:rPr lang="en-US" sz="2100" dirty="0"/>
              <a:t>Analyzed supplier performance, cost efficiency, and logistics KPIs using interactive Power BI    dashboards.</a:t>
            </a:r>
            <a:br>
              <a:rPr lang="en-US" sz="2100" dirty="0"/>
            </a:br>
            <a:endParaRPr lang="en-US" sz="2100" dirty="0"/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Result:</a:t>
            </a:r>
            <a:br>
              <a:rPr lang="en-US" b="1" dirty="0"/>
            </a:br>
            <a:br>
              <a:rPr lang="en-US" sz="2100" dirty="0"/>
            </a:br>
            <a:r>
              <a:rPr lang="en-IN" sz="2100" dirty="0"/>
              <a:t>• </a:t>
            </a:r>
            <a:r>
              <a:rPr lang="en-US" sz="2100" dirty="0"/>
              <a:t>Improved forecast accuracy through ensemble modeling</a:t>
            </a:r>
            <a:br>
              <a:rPr lang="en-US" sz="2100" dirty="0"/>
            </a:br>
            <a:r>
              <a:rPr lang="en-IN" sz="2100" dirty="0"/>
              <a:t>• </a:t>
            </a:r>
            <a:r>
              <a:rPr lang="en-US" sz="2100" dirty="0"/>
              <a:t>Enhanced supplier and route optimization insights</a:t>
            </a:r>
            <a:br>
              <a:rPr lang="en-US" sz="2100" dirty="0"/>
            </a:br>
            <a:r>
              <a:rPr lang="en-IN" sz="2100" dirty="0"/>
              <a:t>•</a:t>
            </a:r>
            <a:r>
              <a:rPr lang="en-US" sz="2100" dirty="0"/>
              <a:t> low-stock risks and improved cost management</a:t>
            </a:r>
            <a:br>
              <a:rPr lang="en-US" sz="2100" dirty="0"/>
            </a:br>
            <a:r>
              <a:rPr lang="en-IN" sz="2100" dirty="0"/>
              <a:t>• </a:t>
            </a:r>
            <a:r>
              <a:rPr lang="en-US" sz="2100" dirty="0"/>
              <a:t>Enabled data-driven decision-making across the supply chain</a:t>
            </a:r>
            <a:br>
              <a:rPr lang="en-US" dirty="0"/>
            </a:br>
            <a:endParaRPr lang="en-US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355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7" y="0"/>
            <a:ext cx="11510128" cy="546755"/>
          </a:xfrm>
        </p:spPr>
        <p:txBody>
          <a:bodyPr>
            <a:noAutofit/>
          </a:bodyPr>
          <a:lstStyle/>
          <a:p>
            <a:r>
              <a:rPr lang="en-US" sz="3200" dirty="0"/>
              <a:t>Project Highlights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2" y="546755"/>
            <a:ext cx="10272074" cy="58257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Dataset size:</a:t>
            </a:r>
          </a:p>
          <a:p>
            <a:pPr marL="0" indent="0">
              <a:buNone/>
            </a:pPr>
            <a:r>
              <a:rPr lang="en-US" sz="1800" dirty="0"/>
              <a:t>• </a:t>
            </a:r>
            <a:r>
              <a:rPr lang="en-IN" sz="1800" dirty="0"/>
              <a:t>~ 100 rows • ~ 24 columns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Tools Used: </a:t>
            </a:r>
            <a:br>
              <a:rPr lang="en-US" sz="1800" b="1" dirty="0">
                <a:solidFill>
                  <a:srgbClr val="FFC000"/>
                </a:solidFill>
              </a:rPr>
            </a:br>
            <a:r>
              <a:rPr lang="en-IN" sz="1800" dirty="0"/>
              <a:t>Python, Power BI, Excel, SQL</a:t>
            </a: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US" sz="1800" dirty="0"/>
              <a:t>• Higher lead times → low stock availability</a:t>
            </a:r>
            <a:br>
              <a:rPr lang="en-US" sz="1800" dirty="0"/>
            </a:br>
            <a:r>
              <a:rPr lang="en-US" sz="1800" dirty="0"/>
              <a:t>• Route C &amp; specific suppliers caused frequent delays</a:t>
            </a:r>
            <a:br>
              <a:rPr lang="en-US" sz="1800" dirty="0"/>
            </a:br>
            <a:r>
              <a:rPr lang="en-US" sz="1800" dirty="0"/>
              <a:t>• Shipping &amp; manufacturing costs affected revenue per unit</a:t>
            </a:r>
            <a:br>
              <a:rPr lang="en-US" sz="1800" dirty="0"/>
            </a:br>
            <a:r>
              <a:rPr lang="en-US" sz="1800" dirty="0"/>
              <a:t>• Forecasting revealed seasonal demand variation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2400" b="1" dirty="0">
                <a:solidFill>
                  <a:srgbClr val="FFC000"/>
                </a:solidFill>
              </a:rPr>
              <a:t>Model Used:</a:t>
            </a:r>
          </a:p>
          <a:p>
            <a:pPr marL="0" indent="0">
              <a:buNone/>
            </a:pPr>
            <a:r>
              <a:rPr lang="en-IN" sz="1600" dirty="0"/>
              <a:t>• Random Forest</a:t>
            </a:r>
            <a:br>
              <a:rPr lang="en-IN" sz="1600" dirty="0"/>
            </a:br>
            <a:r>
              <a:rPr lang="en-IN" sz="1600" dirty="0"/>
              <a:t>• Gradient Boosting</a:t>
            </a:r>
            <a:br>
              <a:rPr lang="en-IN" sz="1600" dirty="0"/>
            </a:br>
            <a:r>
              <a:rPr lang="en-IN" sz="1600" dirty="0"/>
              <a:t>• Ensemble (Voting Regressor — </a:t>
            </a:r>
            <a:r>
              <a:rPr lang="en-IN" sz="1600" b="1" dirty="0"/>
              <a:t>Best Model</a:t>
            </a:r>
            <a:r>
              <a:rPr lang="en-IN" sz="1600" dirty="0"/>
              <a:t>)</a:t>
            </a:r>
            <a:br>
              <a:rPr lang="en-IN" sz="1600" dirty="0"/>
            </a:br>
            <a:r>
              <a:rPr lang="en-IN" sz="1600" dirty="0"/>
              <a:t>• </a:t>
            </a:r>
            <a:r>
              <a:rPr lang="en-IN" sz="1600" b="1" dirty="0"/>
              <a:t>R² = 0.66</a:t>
            </a:r>
            <a:endParaRPr lang="en-US" sz="24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Final Outcome:</a:t>
            </a: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Improved demand forecasting, reduced low-stock risk, and enabled supplier performance tracking with Power BI dashboards.</a:t>
            </a:r>
            <a:br>
              <a:rPr lang="en-US" sz="1800" b="1" dirty="0"/>
            </a:br>
            <a:endParaRPr lang="en-US" sz="1800" b="1" dirty="0"/>
          </a:p>
          <a:p>
            <a:pPr marL="0" indent="0">
              <a:buNone/>
            </a:pP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860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901" y="70696"/>
            <a:ext cx="10213482" cy="834277"/>
          </a:xfrm>
        </p:spPr>
        <p:txBody>
          <a:bodyPr>
            <a:normAutofit/>
          </a:bodyPr>
          <a:lstStyle/>
          <a:p>
            <a:r>
              <a:rPr lang="en-US" sz="4000" dirty="0"/>
              <a:t>Project 2: Google Play Store Apps Rating Analysis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353" y="1018095"/>
            <a:ext cx="9825873" cy="50056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📘 Overview:</a:t>
            </a:r>
            <a:br>
              <a:rPr lang="en-US" b="1" dirty="0"/>
            </a:br>
            <a:br>
              <a:rPr lang="en-US" dirty="0"/>
            </a:br>
            <a:r>
              <a:rPr lang="en-US" sz="1900" dirty="0"/>
              <a:t>Google Play Store data offers valuable insights for app developers to improve ratings and increase installs.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🧩 Features Include:</a:t>
            </a:r>
            <a:br>
              <a:rPr lang="en-US" b="1" dirty="0"/>
            </a:br>
            <a:br>
              <a:rPr lang="en-US" dirty="0"/>
            </a:br>
            <a:r>
              <a:rPr lang="en-US" sz="1900" dirty="0"/>
              <a:t>App names, categories, ratings, reviews, installs, types, prices, and update information etc.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🎯 Problem Statement:</a:t>
            </a:r>
            <a:br>
              <a:rPr lang="en-US" b="1" dirty="0"/>
            </a:br>
            <a:br>
              <a:rPr lang="en-US" dirty="0"/>
            </a:br>
            <a:r>
              <a:rPr lang="en-US" sz="1900" dirty="0"/>
              <a:t>Analyze and visualize patterns across apps to understand what factors influence app ratings and popularity.</a:t>
            </a:r>
            <a:br>
              <a:rPr lang="en-US" sz="1900" dirty="0"/>
            </a:br>
            <a:r>
              <a:rPr lang="en-US" sz="1900" dirty="0"/>
              <a:t>Perform data cleaning, EDA, and trend visualization to derive actionable insights.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🛠 Tools Used:</a:t>
            </a:r>
            <a:br>
              <a:rPr lang="en-US" dirty="0"/>
            </a:br>
            <a:r>
              <a:rPr lang="en-US" sz="1900" dirty="0"/>
              <a:t>Excel | Python | Power BI | SQL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E341677-BB8C-E9A5-7DDC-F599EA32C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17" y="207228"/>
            <a:ext cx="456737" cy="50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Stars">
            <a:extLst>
              <a:ext uri="{FF2B5EF4-FFF2-40B4-BE49-F238E27FC236}">
                <a16:creationId xmlns:a16="http://schemas.microsoft.com/office/drawing/2014/main" id="{CA7800C8-7E74-C9D4-B6D6-7DE934C14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3" y="70696"/>
            <a:ext cx="490198" cy="4901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DA8787-461E-6000-A090-D3D062FC85B1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437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467836"/>
          </a:xfrm>
        </p:spPr>
        <p:txBody>
          <a:bodyPr>
            <a:normAutofit/>
          </a:bodyPr>
          <a:lstStyle/>
          <a:p>
            <a:r>
              <a:rPr lang="en-IN" sz="2400" dirty="0"/>
              <a:t>Python: Data Preparation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4" y="552680"/>
            <a:ext cx="9176646" cy="430212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10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#Import necessary Libraries</a:t>
            </a:r>
            <a:endParaRPr lang="en-IN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RandomForestRegressor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r2_score</a:t>
            </a:r>
            <a:b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"E:/Unified_Mentor_Internship_Project/Googleplay/googleplaystore.csv"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"Initial shape:"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71FB0A-C723-2F4D-DFB2-4816D5D7F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2" y="3817856"/>
            <a:ext cx="10862935" cy="2046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A2B9AD-9C88-8C72-E5A9-166B06D28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22" y="6085001"/>
            <a:ext cx="10862935" cy="24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97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372319"/>
          </a:xfrm>
        </p:spPr>
        <p:txBody>
          <a:bodyPr>
            <a:noAutofit/>
          </a:bodyPr>
          <a:lstStyle/>
          <a:p>
            <a:r>
              <a:rPr lang="en-IN" sz="2400" dirty="0"/>
              <a:t>Python: Data Cleaning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3" y="457162"/>
            <a:ext cx="10240764" cy="5924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Correcting a known error in the dataset where one row is shifted</a:t>
            </a: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'Android Ver'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'Category'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'1.9'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missing values by filling 'Rating' with the median </a:t>
            </a: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#dropping other NA rows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 Rating'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'Current Ver'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'Android Ver'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'Reviews' to a numeric type</a:t>
            </a: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'Reviews'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to_numeric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'Reviews'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Clean and convert 'Size' column to a numeric type (in bytes)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'e6'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'e3'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'Varies with device'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to_numeric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Clean and convert 'Installs' to a numeric type</a:t>
            </a: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'Installs'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'Installs'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'+'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'Installs'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to_numeric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'Installs'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Clean and convert 'Price' to a numeric type</a:t>
            </a: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'$'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to_numeric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'Price’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duplicate app entries, keeping the first occurrence</a:t>
            </a: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drop_duplicates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5D3A3D-0AAD-FF51-C98A-CF40C24C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455" y="1668607"/>
            <a:ext cx="3368332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02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372319"/>
          </a:xfrm>
        </p:spPr>
        <p:txBody>
          <a:bodyPr>
            <a:noAutofit/>
          </a:bodyPr>
          <a:lstStyle/>
          <a:p>
            <a:r>
              <a:rPr lang="en-IN" sz="2400" dirty="0"/>
              <a:t>Python: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3" y="565608"/>
            <a:ext cx="10240764" cy="5816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#Exploratory Data Analysis (EDA)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#Distribution of App Ratings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histplot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kde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'Distribution of App Ratings'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'Frequency'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3A3938-B2E6-210A-8A33-49CBBD23D4D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8023" y="3129719"/>
            <a:ext cx="8181975" cy="330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77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372319"/>
          </a:xfrm>
        </p:spPr>
        <p:txBody>
          <a:bodyPr>
            <a:noAutofit/>
          </a:bodyPr>
          <a:lstStyle/>
          <a:p>
            <a:r>
              <a:rPr lang="en-IN" sz="2400" dirty="0"/>
              <a:t>Python: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3" y="476054"/>
            <a:ext cx="10240764" cy="5905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#Free vs. Paid Apps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free_vs_paid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value_counts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free_vs_paid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free_vs_paid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autopct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%1.1f%%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startangle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140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colors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skyblue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lightcoral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'Free vs Paid Apps'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#Relationship Between Price and Rating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scatterplot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paid_apps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'Relationship Between Price and Rating for Paid Apps'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 ($)'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A6B92-4A71-0515-16EE-1920451F1D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25746" y="3520873"/>
            <a:ext cx="3192659" cy="28610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37C271-5CAB-8840-7AC2-1E58CC3B14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6000" y="2592062"/>
            <a:ext cx="5883013" cy="378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36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372319"/>
          </a:xfrm>
        </p:spPr>
        <p:txBody>
          <a:bodyPr>
            <a:noAutofit/>
          </a:bodyPr>
          <a:lstStyle/>
          <a:p>
            <a:r>
              <a:rPr lang="en-IN" sz="2400" dirty="0"/>
              <a:t>Python: Data </a:t>
            </a:r>
            <a:r>
              <a:rPr lang="en-IN" sz="2400" dirty="0" err="1"/>
              <a:t>Modeling</a:t>
            </a:r>
            <a:r>
              <a:rPr lang="en-IN" sz="2400" dirty="0"/>
              <a:t> &amp; Evaluation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3" y="565608"/>
            <a:ext cx="10240764" cy="5816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Prepare Data for </a:t>
            </a:r>
            <a:r>
              <a:rPr lang="en-IN" sz="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Modeling</a:t>
            </a: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Select features and target variable</a:t>
            </a: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df_ml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'Category'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'Reviews'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'Installs'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 Rating'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categorical variables into dummy/indicator variables (one-hot encoding)</a:t>
            </a: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df_ml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get_dummies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df_ml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'Category'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 Rating'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drop_first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Define features (X) and target (y)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df_ml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df_ml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'Rating'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Split data into training and testing sets (80% train, 20% test)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Train the Machine Learning Model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RandomForestRegressor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n_jobs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Fit the model on the training data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Evaluate the Model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Make predictions on the test data</a:t>
            </a: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performance metrics</a:t>
            </a: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evaluation results</a:t>
            </a: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"--- Machine Learning Model Evaluation ---"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"Mean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Absolute Error (MAE): </a:t>
            </a:r>
            <a:r>
              <a:rPr lang="en-IN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IN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"Mean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Squared Error (MSE): </a:t>
            </a:r>
            <a:r>
              <a:rPr lang="en-IN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IN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-squared (R2): </a:t>
            </a:r>
            <a:r>
              <a:rPr lang="en-IN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IN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A3490D-B8E9-8D69-70E3-EDE5F2EC2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453" y="4878956"/>
            <a:ext cx="4826524" cy="103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08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372319"/>
          </a:xfrm>
        </p:spPr>
        <p:txBody>
          <a:bodyPr>
            <a:noAutofit/>
          </a:bodyPr>
          <a:lstStyle/>
          <a:p>
            <a:r>
              <a:rPr lang="en-IN" sz="2400" dirty="0"/>
              <a:t>Python: New Prediction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3" y="457162"/>
            <a:ext cx="10240764" cy="5924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1. Define the data for the new prediction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new_app_data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'Category'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'BUSINESS'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'Reviews'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'Size'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25e6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  </a:t>
            </a: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25MB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'Installs'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'Paid'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9.99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 Rating'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'Everyone'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new_app_data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2. Apply one-hot encoding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new_app_encoded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get_dummies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'Category'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 Rating'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drop_first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3. Align columns with the original training data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ensures the new data has the exact same structure as the training data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new_app_processed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new_app_encoded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reindex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fill_value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4. Predict the rating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predicted_rating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new_app_processed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5. Print the result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"--- New App Prediction ---"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Data: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new_app_data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"Predicted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Rating: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predicted_rating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⭐"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9A9B9-6EAF-31E0-1B38-A0721CC1D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76" y="1747233"/>
            <a:ext cx="7469171" cy="106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86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121" y="1"/>
            <a:ext cx="1781665" cy="593888"/>
          </a:xfrm>
        </p:spPr>
        <p:txBody>
          <a:bodyPr>
            <a:normAutofit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022AD-E8FB-9A41-A9A6-C29E9A983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28" y="570654"/>
            <a:ext cx="11616965" cy="584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60E881-E1A8-E64B-1A5E-697444399E8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907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671" y="1"/>
            <a:ext cx="1714566" cy="471339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676E1B-4C11-FE5F-5570-13FA77D7F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34" y="505969"/>
            <a:ext cx="11805501" cy="58194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CA0D40-ABBA-1DA8-E9BB-CE9B42FBD5E4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642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291" y="1"/>
            <a:ext cx="1847653" cy="527900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35AEF-14B5-FC32-55ED-7991C4D2D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55" y="527901"/>
            <a:ext cx="11711233" cy="57692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DC0192-F960-E5D0-6F45-433EC77166C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56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743" y="1"/>
            <a:ext cx="996099" cy="339364"/>
          </a:xfrm>
        </p:spPr>
        <p:txBody>
          <a:bodyPr>
            <a:noAutofit/>
          </a:bodyPr>
          <a:lstStyle/>
          <a:p>
            <a:r>
              <a:rPr lang="en-IN" sz="3200" dirty="0"/>
              <a:t>SQL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49405-8D76-E4AC-A4E5-EA402787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77" y="395927"/>
            <a:ext cx="4282911" cy="2187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B6DC8E-8985-6638-4354-A133EE6F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6" y="2672578"/>
            <a:ext cx="4216923" cy="37235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167935-59DB-C566-E04F-3F967A6C1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387" y="339365"/>
            <a:ext cx="5363851" cy="60567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470074-C361-BF6F-700C-1724755D9E8A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3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170" y="1"/>
            <a:ext cx="1216058" cy="339364"/>
          </a:xfrm>
        </p:spPr>
        <p:txBody>
          <a:bodyPr>
            <a:noAutofit/>
          </a:bodyPr>
          <a:lstStyle/>
          <a:p>
            <a:r>
              <a:rPr lang="en-IN" sz="3200" dirty="0"/>
              <a:t>SQL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F703F-20A0-6B3E-582C-73CB02776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73" y="481048"/>
            <a:ext cx="3993971" cy="24318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E5DAA-3B42-BAE6-7530-982851A11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375" y="481049"/>
            <a:ext cx="4905229" cy="5895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F21EF6-DDEC-813D-933B-132947ABD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72" y="3129699"/>
            <a:ext cx="3993971" cy="324725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8CAE2-0F1A-8462-A58B-75561221ACF0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2170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59" y="141403"/>
            <a:ext cx="11180189" cy="631594"/>
          </a:xfrm>
        </p:spPr>
        <p:txBody>
          <a:bodyPr>
            <a:noAutofit/>
          </a:bodyPr>
          <a:lstStyle/>
          <a:p>
            <a:r>
              <a:rPr lang="en-US" sz="3200" dirty="0"/>
              <a:t>Google Play Store App Rating Analysis – Problem, Solution &amp; Result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354" y="772997"/>
            <a:ext cx="9879291" cy="55995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Problem: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Analyze and visualize patterns across apps to understand what factors influence app ratings and popularity. Perform data cleaning, EDA, and trend visualization to derive actionable insights.</a:t>
            </a: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Solution: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IN" sz="1800" b="1" dirty="0"/>
              <a:t>• </a:t>
            </a:r>
            <a:r>
              <a:rPr lang="en-US" sz="1800" dirty="0"/>
              <a:t>Collected and cleaned Play Store data to remove duplicates, missing values, and formatting issues.</a:t>
            </a:r>
            <a:br>
              <a:rPr lang="en-US" sz="1800" dirty="0"/>
            </a:br>
            <a:r>
              <a:rPr lang="en-IN" sz="1800" dirty="0"/>
              <a:t>• </a:t>
            </a:r>
            <a:r>
              <a:rPr lang="en-US" sz="1800" dirty="0"/>
              <a:t>Used Python (Pandas, Matplotlib, Seaborn) for Exploratory Data Analysis and feature correlation.</a:t>
            </a:r>
          </a:p>
          <a:p>
            <a:pPr marL="0" indent="0">
              <a:buNone/>
            </a:pPr>
            <a:r>
              <a:rPr lang="en-IN" sz="1800" dirty="0"/>
              <a:t>• </a:t>
            </a:r>
            <a:r>
              <a:rPr lang="en-US" sz="1800" dirty="0"/>
              <a:t>Identified top-performing app categories, paid vs free performance</a:t>
            </a:r>
            <a:r>
              <a:rPr lang="en-US" sz="1800" b="1" dirty="0"/>
              <a:t>, </a:t>
            </a:r>
            <a:r>
              <a:rPr lang="en-US" sz="1800" dirty="0"/>
              <a:t>and trends by installs, ratings, and reviews.</a:t>
            </a:r>
            <a:br>
              <a:rPr lang="en-US" sz="1800" dirty="0"/>
            </a:br>
            <a:r>
              <a:rPr lang="en-IN" sz="1800" dirty="0"/>
              <a:t>• </a:t>
            </a:r>
            <a:r>
              <a:rPr lang="en-US" sz="1800" dirty="0"/>
              <a:t>Built an interactive Power BI dashboard to visualize category performance, app updates, and rating distribution.</a:t>
            </a:r>
            <a:endParaRPr lang="en-US" sz="18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Result: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IN" sz="1800" dirty="0"/>
              <a:t>• </a:t>
            </a:r>
            <a:r>
              <a:rPr lang="en-US" sz="1800" dirty="0"/>
              <a:t>Discovered that </a:t>
            </a:r>
            <a:r>
              <a:rPr lang="en-US" sz="1800" b="1" dirty="0"/>
              <a:t>apps with frequent updates and smaller size</a:t>
            </a:r>
            <a:r>
              <a:rPr lang="en-US" sz="1800" dirty="0"/>
              <a:t> tend to have higher ratings.</a:t>
            </a:r>
          </a:p>
          <a:p>
            <a:pPr marL="0" indent="0">
              <a:buNone/>
            </a:pPr>
            <a:r>
              <a:rPr lang="en-IN" sz="1800" b="1" dirty="0"/>
              <a:t>• </a:t>
            </a:r>
            <a:r>
              <a:rPr lang="en-US" sz="1800" b="1" dirty="0"/>
              <a:t>Free apps</a:t>
            </a:r>
            <a:r>
              <a:rPr lang="en-US" sz="1800" dirty="0"/>
              <a:t> dominate downloads, while </a:t>
            </a:r>
            <a:r>
              <a:rPr lang="en-US" sz="1800" b="1" dirty="0"/>
              <a:t>paid apps</a:t>
            </a:r>
            <a:r>
              <a:rPr lang="en-US" sz="1800" dirty="0"/>
              <a:t> have higher average ratings.</a:t>
            </a:r>
            <a:br>
              <a:rPr lang="en-US" sz="1800" dirty="0"/>
            </a:br>
            <a:r>
              <a:rPr lang="en-IN" sz="1800" dirty="0"/>
              <a:t>• </a:t>
            </a:r>
            <a:r>
              <a:rPr lang="en-US" sz="1800" b="1" dirty="0"/>
              <a:t>Game and Communication</a:t>
            </a:r>
            <a:r>
              <a:rPr lang="en-US" sz="1800" dirty="0"/>
              <a:t> categories lead in installs and engagement.</a:t>
            </a:r>
            <a:br>
              <a:rPr lang="en-US" sz="1800" dirty="0"/>
            </a:br>
            <a:r>
              <a:rPr lang="en-IN" sz="1800" dirty="0"/>
              <a:t>• </a:t>
            </a:r>
            <a:r>
              <a:rPr lang="en-US" sz="1800" dirty="0"/>
              <a:t>The dashboard enables stakeholders to prioritize app features and update frequency to boost success metrics.</a:t>
            </a:r>
            <a:br>
              <a:rPr lang="en-US" sz="1800" b="1" dirty="0"/>
            </a:br>
            <a:endParaRPr lang="en-US" sz="1800" b="1" dirty="0"/>
          </a:p>
          <a:p>
            <a:pPr marL="0" indent="0">
              <a:buNone/>
            </a:pP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5084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7" y="0"/>
            <a:ext cx="11510128" cy="546755"/>
          </a:xfrm>
        </p:spPr>
        <p:txBody>
          <a:bodyPr>
            <a:noAutofit/>
          </a:bodyPr>
          <a:lstStyle/>
          <a:p>
            <a:r>
              <a:rPr lang="en-US" sz="3200" dirty="0"/>
              <a:t>Project Highlights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2" y="546755"/>
            <a:ext cx="10272074" cy="58257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Dataset size:</a:t>
            </a:r>
          </a:p>
          <a:p>
            <a:pPr marL="0" indent="0">
              <a:buNone/>
            </a:pPr>
            <a:r>
              <a:rPr lang="en-US" sz="1800" dirty="0"/>
              <a:t>• </a:t>
            </a:r>
            <a:r>
              <a:rPr lang="en-IN" sz="1800" dirty="0"/>
              <a:t>~ 10,841 apps • ~ 13 attributes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Tools Used: </a:t>
            </a:r>
            <a:br>
              <a:rPr lang="en-US" sz="1800" b="1" dirty="0">
                <a:solidFill>
                  <a:srgbClr val="FFC000"/>
                </a:solidFill>
              </a:rPr>
            </a:br>
            <a:r>
              <a:rPr lang="en-IN" sz="1800" dirty="0"/>
              <a:t>Python, Power BI, Excel, SQL</a:t>
            </a: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US" sz="1800" dirty="0"/>
              <a:t>• Free apps dominate installs; paid apps have higher ratings</a:t>
            </a:r>
            <a:br>
              <a:rPr lang="en-US" sz="1800" dirty="0"/>
            </a:br>
            <a:r>
              <a:rPr lang="en-US" sz="1800" dirty="0"/>
              <a:t>• Small-size apps and frequent updates perform better</a:t>
            </a:r>
            <a:br>
              <a:rPr lang="en-US" sz="1800" dirty="0"/>
            </a:br>
            <a:r>
              <a:rPr lang="en-US" sz="1800" dirty="0"/>
              <a:t>• Game &amp; Communication categories lead in user engagement</a:t>
            </a:r>
            <a:br>
              <a:rPr lang="en-US" sz="1800" dirty="0"/>
            </a:br>
            <a:r>
              <a:rPr lang="en-US" sz="1800" dirty="0"/>
              <a:t>• Reviews strongly correlate with installs and rating quality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2400" b="1" dirty="0">
                <a:solidFill>
                  <a:srgbClr val="FFC000"/>
                </a:solidFill>
              </a:rPr>
              <a:t>Model Used:</a:t>
            </a:r>
          </a:p>
          <a:p>
            <a:pPr marL="0" indent="0">
              <a:buNone/>
            </a:pPr>
            <a:r>
              <a:rPr lang="en-IN" sz="1800" dirty="0"/>
              <a:t>• Random Forest Regressor</a:t>
            </a:r>
            <a:br>
              <a:rPr lang="en-IN" sz="1800" dirty="0"/>
            </a:br>
            <a:r>
              <a:rPr lang="en-IN" sz="1800" dirty="0"/>
              <a:t>• </a:t>
            </a:r>
            <a:r>
              <a:rPr lang="en-IN" sz="1800" b="1" dirty="0"/>
              <a:t>R² ≈ 0.05 | MAE ≈ 0.32</a:t>
            </a:r>
            <a:endParaRPr lang="en-IN" sz="1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Final Outcome:</a:t>
            </a: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Identified factors influencing app rating and created a dashboard to help developers optimize category focus, pricing, and update strategy.</a:t>
            </a:r>
            <a:br>
              <a:rPr lang="en-US" sz="1800" b="1" dirty="0"/>
            </a:br>
            <a:endParaRPr lang="en-US" sz="1800" b="1" dirty="0"/>
          </a:p>
          <a:p>
            <a:pPr marL="0" indent="0">
              <a:buNone/>
            </a:pP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8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714" y="103696"/>
            <a:ext cx="8795209" cy="826415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3: Customer Satisfaction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7714" y="1140642"/>
            <a:ext cx="8693086" cy="48925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📘 Overview:</a:t>
            </a:r>
            <a:br>
              <a:rPr lang="en-US" b="1" dirty="0"/>
            </a:br>
            <a:br>
              <a:rPr lang="en-US" sz="2300" dirty="0"/>
            </a:br>
            <a:r>
              <a:rPr lang="en-US" sz="1900" dirty="0"/>
              <a:t>This dataset contains customer support ticket data from tech products — covering ticket type, resolution, response time, priority, and customer satisfaction.</a:t>
            </a:r>
            <a:br>
              <a:rPr lang="en-US" sz="1900" dirty="0"/>
            </a:br>
            <a:endParaRPr lang="en-US" sz="1900" dirty="0"/>
          </a:p>
          <a:p>
            <a:pPr marL="0" indent="0">
              <a:buNone/>
            </a:pPr>
            <a:r>
              <a:rPr lang="en-US" sz="2600" dirty="0">
                <a:solidFill>
                  <a:srgbClr val="FFC000"/>
                </a:solidFill>
              </a:rPr>
              <a:t>🧩 </a:t>
            </a:r>
            <a:r>
              <a:rPr lang="en-US" sz="2600" b="1" dirty="0">
                <a:solidFill>
                  <a:srgbClr val="FFC000"/>
                </a:solidFill>
              </a:rPr>
              <a:t>Features</a:t>
            </a:r>
            <a:r>
              <a:rPr lang="en-US" sz="2600" dirty="0">
                <a:solidFill>
                  <a:srgbClr val="FFC000"/>
                </a:solidFill>
              </a:rPr>
              <a:t> </a:t>
            </a:r>
            <a:r>
              <a:rPr lang="en-US" sz="2600" b="1" dirty="0">
                <a:solidFill>
                  <a:srgbClr val="FFC000"/>
                </a:solidFill>
              </a:rPr>
              <a:t>Include</a:t>
            </a:r>
            <a:r>
              <a:rPr lang="en-US" sz="2600" dirty="0">
                <a:solidFill>
                  <a:srgbClr val="FFC000"/>
                </a:solidFill>
              </a:rPr>
              <a:t>:</a:t>
            </a:r>
            <a:br>
              <a:rPr lang="en-US" sz="3100" dirty="0"/>
            </a:br>
            <a:br>
              <a:rPr lang="en-US" sz="3100" dirty="0"/>
            </a:br>
            <a:r>
              <a:rPr lang="en-US" sz="1900" dirty="0"/>
              <a:t>Ticket ID, Customer Name, Customer Email, Customer Age, Customer </a:t>
            </a:r>
            <a:r>
              <a:rPr lang="en-US" sz="1900" dirty="0" err="1"/>
              <a:t>Gende</a:t>
            </a:r>
            <a:r>
              <a:rPr lang="en-US" sz="1900" dirty="0"/>
              <a:t>, Product Purchased, Date of Purchase, Ticket Type, Ticket Subject, Ticket Description, Ticket Status, Ticket Priority, Ticket Channel, Customer Satisfaction Rating etc.</a:t>
            </a:r>
            <a:br>
              <a:rPr lang="en-US" sz="1900" dirty="0"/>
            </a:br>
            <a:endParaRPr lang="en-US" sz="19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🎯 Problem Statement:</a:t>
            </a:r>
            <a:br>
              <a:rPr lang="en-US" b="1" dirty="0"/>
            </a:br>
            <a:br>
              <a:rPr lang="en-US" sz="1900" dirty="0"/>
            </a:br>
            <a:r>
              <a:rPr lang="en-US" sz="1900" dirty="0"/>
              <a:t>Build a predictive model to estimate customer satisfaction levels using ticket data and service-related factors.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🛠 Tools Used:</a:t>
            </a:r>
            <a:br>
              <a:rPr lang="en-US" dirty="0"/>
            </a:br>
            <a:r>
              <a:rPr lang="en-US" sz="1900" dirty="0"/>
              <a:t>Excel | Python | Power BI | SQL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CAF98C-7118-1611-35E4-1568CDE44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49" y="292231"/>
            <a:ext cx="637880" cy="63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45B228-5DF3-F1A8-127E-F8B83F4231C4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553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509046"/>
          </a:xfrm>
        </p:spPr>
        <p:txBody>
          <a:bodyPr>
            <a:normAutofit/>
          </a:bodyPr>
          <a:lstStyle/>
          <a:p>
            <a:r>
              <a:rPr lang="en-IN" sz="2400" dirty="0"/>
              <a:t>Python: Data Preparation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93890"/>
            <a:ext cx="9013135" cy="5646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Import essential libraries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OneHotEncoder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LabelEncoder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ColumnTransformer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Pipeline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GridSearchCV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linear_model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LogisticRegression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RandomForestClassifier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classification_report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confusion_matrix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accuracy_score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imblearn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over_sampling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SMOTE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pickle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endParaRPr lang="en-US" sz="10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dataset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"E:/Unified_Mentor_Internship_Project/Customer Satisfaction/customer_support_tickets.csv"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"Shape:"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9EDDF-47E2-5797-CB9A-A96BD348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673" y="1015738"/>
            <a:ext cx="3137013" cy="33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21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580888" cy="509046"/>
          </a:xfrm>
        </p:spPr>
        <p:txBody>
          <a:bodyPr>
            <a:normAutofit/>
          </a:bodyPr>
          <a:lstStyle/>
          <a:p>
            <a:r>
              <a:rPr lang="en-IN" sz="2400" dirty="0"/>
              <a:t>Python: Data Cleaning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93890"/>
            <a:ext cx="9013135" cy="5646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Data Preprocessing &amp; Feature Engineering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Filter for closed tickets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closed_tickets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Status"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"Closed"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columns to datetime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to_datetime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"coerce"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to_datetime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"coerce"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Fix by swapping dates (if you suspect they were reversed)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b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</a:br>
            <a:b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resolution time in hours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Resolution_Time_Hours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total_seconds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3600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nan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Compute average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"Average Resolution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Resolution_Time_Hours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"Average Resolution Time (Hours):"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"Average Resolution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85BD7B-A0B9-16F2-AB89-A1C0C6584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782" y="3271164"/>
            <a:ext cx="2982012" cy="3091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7952F6-1D3C-B801-A87F-EE4715B0B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2" y="5625444"/>
            <a:ext cx="7136092" cy="3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83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509046"/>
          </a:xfrm>
        </p:spPr>
        <p:txBody>
          <a:bodyPr>
            <a:normAutofit/>
          </a:bodyPr>
          <a:lstStyle/>
          <a:p>
            <a:r>
              <a:rPr lang="en-IN" sz="2400" dirty="0"/>
              <a:t>Python : Feature Engineering &amp;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93890"/>
            <a:ext cx="9013135" cy="5646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date to days since purchase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 of Purchase'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to_datetime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 of Purchase'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'coerce'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'Days Since Purchase'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to_datetime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'today'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 of Purchase'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dt.days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Drop unused datetime columns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Status"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Response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"Time to Resolution"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"Date of Purchase"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#Exploratory Data Analysis (EDA)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countplot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'Customer Satisfaction Rating'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'Customer Satisfaction Rating'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palette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viridis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'Distribution of Customer Satisfaction Ratings'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'Rating (1-5)'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 of Tickets'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71F82-E35A-B27B-5A9D-D108B97C1E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44700" y="3657579"/>
            <a:ext cx="8096250" cy="263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487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372318"/>
          </a:xfrm>
        </p:spPr>
        <p:txBody>
          <a:bodyPr>
            <a:noAutofit/>
          </a:bodyPr>
          <a:lstStyle/>
          <a:p>
            <a:r>
              <a:rPr lang="en-IN" sz="2400" dirty="0"/>
              <a:t>Python :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4" y="457162"/>
            <a:ext cx="9176646" cy="59436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axes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subplots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Satisfaction by Ticket Priority</a:t>
            </a: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barplot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'Ticket Priority'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'Customer Satisfaction Rating'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'Ticket Priority'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axes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palette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'magma'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axes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set_title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'Average Satisfaction by Ticket Priority'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Satisfaction by Ticket Channel</a:t>
            </a: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barplot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'Ticket Channel'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'Customer Satisfaction Rating'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'Ticket Channel'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axes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palette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'plasma'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axes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set_title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'Average Satisfaction by Ticket Channel'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tight_layout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9EBE1-9C15-5A70-7014-BDA097F330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96206" y="2675675"/>
            <a:ext cx="6909847" cy="372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90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372318"/>
          </a:xfrm>
        </p:spPr>
        <p:txBody>
          <a:bodyPr>
            <a:noAutofit/>
          </a:bodyPr>
          <a:lstStyle/>
          <a:p>
            <a:r>
              <a:rPr lang="en-IN" sz="2400" dirty="0"/>
              <a:t>Python : Model Building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457162"/>
            <a:ext cx="9013135" cy="57833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Prepare features and target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[[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Age"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Gender"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 Purchased"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Type"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Priority"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Channel"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"Average Resolution Time"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"Days Since Purchase"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Satisfaction Rating"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Satisfied: 4-5, Unsatisfied: 1-3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Train/test split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stratify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Balance with SMOTE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smote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SMOTE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smote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fit_resample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IN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Modeling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categorical_cols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Gender"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 Purchased"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Type"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Priority"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Channel"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numeric_cols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Age"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"Average Resolution Time"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"Days Since Purchase"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preprocessor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ColumnTransformer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transformers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"cat"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OneHotEncoder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handle_unknown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"ignore"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categorical_cols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numeric_cols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6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372318"/>
          </a:xfrm>
        </p:spPr>
        <p:txBody>
          <a:bodyPr>
            <a:noAutofit/>
          </a:bodyPr>
          <a:lstStyle/>
          <a:p>
            <a:r>
              <a:rPr lang="en-IN" sz="2400" dirty="0"/>
              <a:t>Python: Model </a:t>
            </a:r>
            <a:r>
              <a:rPr lang="en-IN" sz="2400" dirty="0" err="1"/>
              <a:t>Evalution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4" y="457162"/>
            <a:ext cx="9176646" cy="5924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Logistic Regression pipeline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pipe_log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preprocessor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LogisticRegression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solver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liblinear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max_iter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class_weight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"balanced"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pipe_log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y_pred_log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pipe_log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Random Forest pipeline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pipe_rf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preprocessor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RandomForestClassifier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class_weight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"balanced"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pipe_rf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y_pred_rf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pipe_rf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Evaluation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--- Logistic Regression Evaluation ---"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"Accuracy:"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y_pred_log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classification_report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y_pred_log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digits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--- Random Forest Evaluation ---"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"Accuracy:"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accuracy_score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y_pred_rf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classification_report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y_pred_rf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digits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5F667-B76B-1169-90D6-CE090EDC8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580" y="1817192"/>
            <a:ext cx="4153260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335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372318"/>
          </a:xfrm>
        </p:spPr>
        <p:txBody>
          <a:bodyPr>
            <a:noAutofit/>
          </a:bodyPr>
          <a:lstStyle/>
          <a:p>
            <a:r>
              <a:rPr lang="en-IN" sz="2400" dirty="0"/>
              <a:t>Python: New Prediction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612742"/>
            <a:ext cx="9013135" cy="5627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Predict New 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pipeline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customer_satisfaction_pipeline.pkl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rb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pickle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new_data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Age"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"Customer Gender"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 Purchased"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"LG Smart TV"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Type"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"Technical Issue"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Priority"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"Critical"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"Ticket Channel"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"Chat"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"Average Resolution Time"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"Days Since Purchase"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}])</a:t>
            </a:r>
          </a:p>
          <a:p>
            <a:pPr marL="0" indent="0">
              <a:buNone/>
            </a:pPr>
            <a:b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.predict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new_data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05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Predicted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Satisfaction (1=Happy, 0=Unhappy):"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AC60A-E147-BDF3-53A9-37D7768F88D5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EB0CF-F4AE-3B02-0F19-28BEB375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34" y="5729960"/>
            <a:ext cx="8397968" cy="5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55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291" y="1"/>
            <a:ext cx="1659117" cy="556180"/>
          </a:xfrm>
        </p:spPr>
        <p:txBody>
          <a:bodyPr>
            <a:normAutofit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84D47-480D-6FDD-BFD4-4217CE865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19" y="658890"/>
            <a:ext cx="11426251" cy="55402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42899B-D13F-2EB6-F11D-2ADC4B34993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280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438" y="1"/>
            <a:ext cx="1677970" cy="575034"/>
          </a:xfrm>
        </p:spPr>
        <p:txBody>
          <a:bodyPr>
            <a:normAutofit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45AF9-2A25-09F7-0A75-71594EB51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55" y="543707"/>
            <a:ext cx="11513271" cy="577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2E20AC-480C-C11F-434E-A08151C0EE86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160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333" y="84841"/>
            <a:ext cx="2215299" cy="254524"/>
          </a:xfrm>
        </p:spPr>
        <p:txBody>
          <a:bodyPr>
            <a:noAutofit/>
          </a:bodyPr>
          <a:lstStyle/>
          <a:p>
            <a:r>
              <a:rPr lang="en-IN" sz="3200" dirty="0"/>
              <a:t>SQL</a:t>
            </a:r>
            <a:endParaRPr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20BD38-66E5-BAF6-90A5-7205339E1CF4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E0C1B-5031-CD8B-0BBC-0DF9CD73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2" y="433914"/>
            <a:ext cx="5311600" cy="2819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DFA44E-BAF7-5504-D4B9-F9E321F3E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287" y="433914"/>
            <a:ext cx="5334462" cy="2658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CCA9D8-2FBE-A441-870E-1B686FCA0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17" y="3538052"/>
            <a:ext cx="5357324" cy="28196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14CFE7-29DE-7034-B366-8AB39FDCB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970" y="3346514"/>
            <a:ext cx="5553170" cy="301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019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333" y="84841"/>
            <a:ext cx="2215299" cy="254524"/>
          </a:xfrm>
        </p:spPr>
        <p:txBody>
          <a:bodyPr>
            <a:noAutofit/>
          </a:bodyPr>
          <a:lstStyle/>
          <a:p>
            <a:r>
              <a:rPr lang="en-IN" sz="3200" dirty="0"/>
              <a:t>SQL</a:t>
            </a:r>
            <a:endParaRPr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20BD38-66E5-BAF6-90A5-7205339E1CF4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BA869A-8370-F539-C5F0-3A97C57CD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33" y="572543"/>
            <a:ext cx="6554770" cy="450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53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59" y="141403"/>
            <a:ext cx="10944519" cy="631594"/>
          </a:xfrm>
        </p:spPr>
        <p:txBody>
          <a:bodyPr>
            <a:noAutofit/>
          </a:bodyPr>
          <a:lstStyle/>
          <a:p>
            <a:r>
              <a:rPr lang="en-US" sz="3200" dirty="0"/>
              <a:t>Customer Satisfaction Analysis – Problem, Solution &amp; Result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354" y="772997"/>
            <a:ext cx="9879291" cy="55995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Problem: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Build a predictive model to estimate customer satisfaction levels using ticket data and service-related factors.</a:t>
            </a: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Solution: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• Built classification pipelines (Logistic Regression &amp; Random Forest) to predict whether a ticket results    in a </a:t>
            </a:r>
            <a:r>
              <a:rPr lang="en-US" sz="1800" b="1" dirty="0"/>
              <a:t>satisfied</a:t>
            </a:r>
            <a:r>
              <a:rPr lang="en-US" sz="1800" dirty="0"/>
              <a:t> (rating ≥ 4) or </a:t>
            </a:r>
            <a:r>
              <a:rPr lang="en-US" sz="1800" b="1" dirty="0"/>
              <a:t>unsatisfied</a:t>
            </a:r>
            <a:r>
              <a:rPr lang="en-US" sz="1800" dirty="0"/>
              <a:t> outcome.</a:t>
            </a:r>
            <a:br>
              <a:rPr lang="en-US" sz="1800" dirty="0"/>
            </a:br>
            <a:r>
              <a:rPr lang="en-US" sz="1800" dirty="0"/>
              <a:t>• Applied SMOTE to reduce class imbalance, engineered features from ticket metadata (resolution time,  channel, priority), and visualized trends in Power BI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2400" b="1" dirty="0">
                <a:solidFill>
                  <a:srgbClr val="FFC000"/>
                </a:solidFill>
              </a:rPr>
              <a:t>Result: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• </a:t>
            </a:r>
            <a:r>
              <a:rPr lang="en-US" sz="1800" b="1" dirty="0"/>
              <a:t>Logistic Regression — Accuracy:</a:t>
            </a:r>
            <a:r>
              <a:rPr lang="en-US" sz="1800" dirty="0"/>
              <a:t> </a:t>
            </a:r>
            <a:r>
              <a:rPr lang="en-US" sz="1800" b="1" dirty="0"/>
              <a:t>0.567</a:t>
            </a:r>
            <a:r>
              <a:rPr lang="en-US" sz="1800" dirty="0"/>
              <a:t> (Precision/Recall/F1 shown on slide)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Random Forest — Accuracy:</a:t>
            </a:r>
            <a:r>
              <a:rPr lang="en-US" sz="1800" dirty="0"/>
              <a:t> </a:t>
            </a:r>
            <a:r>
              <a:rPr lang="en-US" sz="1800" b="1" dirty="0"/>
              <a:t>0.579</a:t>
            </a:r>
            <a:r>
              <a:rPr lang="en-US" sz="1800" dirty="0"/>
              <a:t> (Precision/Recall/F1 shown on slide)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Key drivers identified:</a:t>
            </a:r>
            <a:r>
              <a:rPr lang="en-US" sz="1800" dirty="0"/>
              <a:t> Ticket priority, ticket channel, and resolution time.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b="1" dirty="0"/>
              <a:t>Business impact:</a:t>
            </a:r>
            <a:r>
              <a:rPr lang="en-US" sz="1800" dirty="0"/>
              <a:t> Dashboards enable prioritizing high-impact tickets and monitoring SLA/response time improvements.</a:t>
            </a:r>
            <a:br>
              <a:rPr lang="en-US" sz="1800" b="1" dirty="0"/>
            </a:br>
            <a:endParaRPr lang="en-US" sz="1800" b="1" dirty="0"/>
          </a:p>
          <a:p>
            <a:pPr marL="0" indent="0">
              <a:buNone/>
            </a:pP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348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7" y="0"/>
            <a:ext cx="11510128" cy="546755"/>
          </a:xfrm>
        </p:spPr>
        <p:txBody>
          <a:bodyPr>
            <a:noAutofit/>
          </a:bodyPr>
          <a:lstStyle/>
          <a:p>
            <a:r>
              <a:rPr lang="en-US" sz="3200" dirty="0"/>
              <a:t>Project Highlights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2" y="546755"/>
            <a:ext cx="10272074" cy="58257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Dataset size:</a:t>
            </a:r>
          </a:p>
          <a:p>
            <a:pPr marL="0" indent="0">
              <a:buNone/>
            </a:pPr>
            <a:r>
              <a:rPr lang="en-US" sz="1800" dirty="0"/>
              <a:t>•  ~ 8469 rows • ~ 17 columns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Tools Used: </a:t>
            </a:r>
          </a:p>
          <a:p>
            <a:pPr marL="0" indent="0">
              <a:buNone/>
            </a:pPr>
            <a:r>
              <a:rPr lang="en-US" sz="1800" dirty="0"/>
              <a:t>Python (SMOTE, Scikit-Learn), Power BI, SQL</a:t>
            </a:r>
          </a:p>
          <a:p>
            <a:pPr marL="0" indent="0">
              <a:buNone/>
            </a:pP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2400" b="1" dirty="0">
                <a:solidFill>
                  <a:srgbClr val="FFC000"/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US" sz="1800" dirty="0"/>
              <a:t>• Priority, channel, and resolution time are strongest satisfaction drivers</a:t>
            </a:r>
            <a:br>
              <a:rPr lang="en-US" sz="1800" dirty="0"/>
            </a:br>
            <a:r>
              <a:rPr lang="en-US" sz="1800" dirty="0"/>
              <a:t>• Critical tickets show lowest satisfaction levels</a:t>
            </a:r>
            <a:br>
              <a:rPr lang="en-US" sz="1800" dirty="0"/>
            </a:br>
            <a:r>
              <a:rPr lang="en-US" sz="1800" dirty="0"/>
              <a:t>• Chat &amp; Phone channels resolve issues fastest</a:t>
            </a:r>
            <a:br>
              <a:rPr lang="en-US" sz="1800" dirty="0"/>
            </a:br>
            <a:r>
              <a:rPr lang="en-US" sz="1800" dirty="0"/>
              <a:t>• Long resolution time leads to dissatisfaction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2400" b="1" dirty="0">
                <a:solidFill>
                  <a:srgbClr val="FFC000"/>
                </a:solidFill>
              </a:rPr>
              <a:t>Model Used:</a:t>
            </a:r>
          </a:p>
          <a:p>
            <a:pPr marL="0" indent="0">
              <a:buNone/>
            </a:pPr>
            <a:r>
              <a:rPr lang="en-IN" sz="1600" dirty="0"/>
              <a:t>• Logistic Regression (Accuracy ~0.56)</a:t>
            </a:r>
            <a:br>
              <a:rPr lang="en-IN" sz="1600" dirty="0"/>
            </a:br>
            <a:r>
              <a:rPr lang="en-IN" sz="1600" dirty="0"/>
              <a:t>• Random Forest Classifier (Accuracy ~0.58)</a:t>
            </a:r>
            <a:endParaRPr lang="en-US" sz="24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Final Outcome:</a:t>
            </a: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Predicted satisfaction (Happy vs Unhappy) and built dashboards to help support teams prioritize high-impact tickets and improve SLAs.</a:t>
            </a:r>
            <a:br>
              <a:rPr lang="en-US" sz="1800" b="1" dirty="0"/>
            </a:br>
            <a:endParaRPr lang="en-US" sz="1800" b="1" dirty="0"/>
          </a:p>
          <a:p>
            <a:pPr marL="0" indent="0">
              <a:buNone/>
            </a:pP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15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022" y="141013"/>
            <a:ext cx="8560648" cy="679119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4: Daily Transaction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021" y="999241"/>
            <a:ext cx="9964131" cy="52224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📘 Overview:</a:t>
            </a:r>
            <a:br>
              <a:rPr lang="en-US" b="1" dirty="0"/>
            </a:br>
            <a:br>
              <a:rPr lang="en-US" dirty="0"/>
            </a:br>
            <a:r>
              <a:rPr lang="en-US" sz="1800" dirty="0"/>
              <a:t>Daily transactions dataset records an individual’s purchases, payment modes, spending categories, and income sources.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🧩 Features Include:</a:t>
            </a:r>
            <a:br>
              <a:rPr lang="en-US" b="1" dirty="0"/>
            </a:br>
            <a:br>
              <a:rPr lang="en-US" sz="1800" dirty="0"/>
            </a:br>
            <a:r>
              <a:rPr lang="en-US" sz="1800" dirty="0"/>
              <a:t>Date, Mode, Category, Subcategory, Note, Amount, Income</a:t>
            </a: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/</a:t>
            </a:r>
            <a:r>
              <a:rPr lang="en-US" sz="1800" dirty="0"/>
              <a:t>Expense, Currency.</a:t>
            </a:r>
            <a:br>
              <a:rPr lang="en-US" sz="1700" dirty="0"/>
            </a:br>
            <a:endParaRPr lang="en-US" sz="17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🎯 Problem Statement:</a:t>
            </a:r>
            <a:br>
              <a:rPr lang="en-US" b="1" dirty="0"/>
            </a:br>
            <a:br>
              <a:rPr lang="en-US" dirty="0"/>
            </a:br>
            <a:r>
              <a:rPr lang="en-US" sz="1800" dirty="0"/>
              <a:t>Analyze spending patterns, identify expense trends, and generate visual reports to improve financial planning and decision-making.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🛠 Tools Used:</a:t>
            </a:r>
            <a:br>
              <a:rPr lang="en-US" dirty="0"/>
            </a:br>
            <a:r>
              <a:rPr lang="en-US" sz="1800" dirty="0"/>
              <a:t>Excel | Python | Power BI 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359159F-4CC4-97CB-3500-387FE2E09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46" y="141013"/>
            <a:ext cx="604096" cy="60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15960B-BEB1-3A9E-CE83-CBAF6AF72627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544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580175"/>
          </a:xfrm>
        </p:spPr>
        <p:txBody>
          <a:bodyPr>
            <a:normAutofit/>
          </a:bodyPr>
          <a:lstStyle/>
          <a:p>
            <a:r>
              <a:rPr lang="en-IN" sz="2400" dirty="0"/>
              <a:t>Python: Data Preparation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772998"/>
            <a:ext cx="9013135" cy="5231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Import essential libraries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sns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endParaRPr lang="en-US" sz="105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dataset (replace 'transactions.csv' with your actual file path)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"E:/Unified_Mentor_Internship_Project/Daily Transactions/Daily Household Transactions.csv"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ADD49-0F82-F126-75E3-AC6DFC0FD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34" y="4358811"/>
            <a:ext cx="9998306" cy="16460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9297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580175"/>
          </a:xfrm>
        </p:spPr>
        <p:txBody>
          <a:bodyPr>
            <a:normAutofit/>
          </a:bodyPr>
          <a:lstStyle/>
          <a:p>
            <a:r>
              <a:rPr lang="en-IN" sz="2400" dirty="0"/>
              <a:t>Python: Data Preparation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70322"/>
            <a:ext cx="9671901" cy="571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#Data Cleaning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parse_mixed_datetime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to_datetime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/%m/%Y %H:%M:%S'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to_datetime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/%m/%Y'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NaT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parse_mixed_datetime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'Subcategory'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'Subcategory'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'Unknown'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'Note'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'Note'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 Description'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8A751F-F73C-4850-38B0-9A6B8F7C9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34" y="4562573"/>
            <a:ext cx="2507530" cy="172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896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485479"/>
          </a:xfrm>
        </p:spPr>
        <p:txBody>
          <a:bodyPr>
            <a:normAutofit/>
          </a:bodyPr>
          <a:lstStyle/>
          <a:p>
            <a:r>
              <a:rPr lang="en-IN" sz="2400" dirty="0"/>
              <a:t>Python: Feature Engineering &amp;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84462"/>
            <a:ext cx="9671901" cy="5703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#Feature Engineering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'Year'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year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'Day'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day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DayOfWeek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day_name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MonthName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month_name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total_income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total_expenses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net_worth_change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total_income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total_expenses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net_worth_change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#EDA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Income vs Expense summary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05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Income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vs Expense Summary:"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income_expense_summary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agg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'count'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'sum'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'median'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income_expense_summary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6B23F-4FE1-A428-E537-AA79E3EF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28" y="5229697"/>
            <a:ext cx="5068671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12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485479"/>
          </a:xfrm>
        </p:spPr>
        <p:txBody>
          <a:bodyPr>
            <a:normAutofit/>
          </a:bodyPr>
          <a:lstStyle/>
          <a:p>
            <a:r>
              <a:rPr lang="en-IN" sz="2400" dirty="0"/>
              <a:t>Python: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772998"/>
            <a:ext cx="9671901" cy="5514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Category-wise analysis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05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Category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-wise Transaction Summary:"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category_summary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'Category'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agg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'count'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'sum'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category_summary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D7260-932A-FEE2-A196-DA8B453A5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679" y="1635531"/>
            <a:ext cx="5545747" cy="47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559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4"/>
            <a:ext cx="9176648" cy="386478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Python: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20821"/>
            <a:ext cx="9671901" cy="5766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Payment mode analysis</a:t>
            </a: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Payment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Mode Analysis:"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mode_summary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agg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'count'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'sum'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mode_summary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Monthly financial summary</a:t>
            </a: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"Monthly Financial Summary:"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'Year'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unstack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fill_value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Net_Amount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Savings_Rate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Net_Amount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8ABEB-9C83-FD0D-6C9B-05F43BC75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93" y="3742440"/>
            <a:ext cx="3909399" cy="2644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793943-83E9-CB01-F3A0-916D05B6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543" y="822497"/>
            <a:ext cx="4338424" cy="551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665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157" y="84843"/>
            <a:ext cx="9286514" cy="372319"/>
          </a:xfrm>
        </p:spPr>
        <p:txBody>
          <a:bodyPr>
            <a:noAutofit/>
          </a:bodyPr>
          <a:lstStyle/>
          <a:p>
            <a:r>
              <a:rPr lang="en-IN" sz="2400" dirty="0"/>
              <a:t>Python: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4" y="527901"/>
            <a:ext cx="9835412" cy="57597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Average transaction amount by day of week</a:t>
            </a:r>
            <a:endParaRPr lang="en-US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sz="9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Transaction Amount by Day of Week:"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daily_avg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DayOfWeek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US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unstack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fill_value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daily_avg</a:t>
            </a:r>
            <a:r>
              <a:rPr lang="en-US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2. Monthly Trend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Group income and expense by Year and Month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'Year'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'Year'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b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Combine into a single </a:t>
            </a:r>
            <a:r>
              <a:rPr lang="en-IN" sz="9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 fill missing values with 0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monthly_trend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numeric x-axis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monthly_trend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b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Plot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monthly_trend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marker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monthly_trend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marker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'Monthly Income vs Expense Trend'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 (INR)'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47454-3199-78A3-EB2F-4E76E7F38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03" y="655166"/>
            <a:ext cx="3936378" cy="19980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5414F5-6E94-7154-EABB-0AF1FB8873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05931" y="2851254"/>
            <a:ext cx="5314950" cy="353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9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157" y="84843"/>
            <a:ext cx="9286514" cy="372319"/>
          </a:xfrm>
        </p:spPr>
        <p:txBody>
          <a:bodyPr>
            <a:noAutofit/>
          </a:bodyPr>
          <a:lstStyle/>
          <a:p>
            <a:r>
              <a:rPr lang="en-IN" sz="2400" dirty="0"/>
              <a:t>Python: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4" y="527901"/>
            <a:ext cx="9835412" cy="57597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Monthly Savings Rate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Savings_Rate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monthly_summary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Savings_Rate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marker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'green'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'Monthly Savings Rate'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'Savings Rate (%)'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Daily Average Spending</a:t>
            </a:r>
            <a:endParaRPr lang="en-IN" sz="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daily_avg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daily_expense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daily_avg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days_order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'Monday'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'Tuesday'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'Wednesday'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'Thursday'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'Friday'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'Saturday'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'Sunday'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daily_expense_ordered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daily_expense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reindex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days_order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fill_value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daily_expense_ordered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daily_expense_ordered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'Average Daily Expense by Day of Week'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'Day of Week'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'Average Amount (INR)'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xticks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rotation</a:t>
            </a:r>
            <a:r>
              <a:rPr lang="en-IN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ECA40-DE19-1273-26A7-049D527450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15579" y="3429000"/>
            <a:ext cx="4996157" cy="2901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CA86C-3344-FBE4-A273-CD988DFF5DB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15580" y="527901"/>
            <a:ext cx="4996156" cy="277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521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382171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Python: Exploratory Data Analysis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57039"/>
            <a:ext cx="9671901" cy="5730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Income vs Expense Pie Chart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income_expense_total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income_expense_total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income_expense_total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autopct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%1.1f%%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startangle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 vs Expense Distribution’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Transaction Count by Category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category_counts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'Category'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value_counts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category_counts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category_counts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autopct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%1.1f%%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'Transaction Count by Category'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C32B14-1FA6-79A8-343D-204739A261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44437" y="3879559"/>
            <a:ext cx="2917559" cy="25160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B164BB-691E-2D93-C420-41D7687E20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9877" y="3542224"/>
            <a:ext cx="3426680" cy="28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55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580175"/>
          </a:xfrm>
        </p:spPr>
        <p:txBody>
          <a:bodyPr>
            <a:normAutofit/>
          </a:bodyPr>
          <a:lstStyle/>
          <a:p>
            <a:r>
              <a:rPr lang="en-IN" sz="2400" dirty="0"/>
              <a:t>Python: Key Insights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647488"/>
            <a:ext cx="9671901" cy="5640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total_income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total_expense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net_savings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total_income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total_expense</a:t>
            </a: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savings_rate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net_savings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total_income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total_income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"📊 FINANCIAL OVERVIEW:"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Total Income: ₹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total_income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:,.2f}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Total Expense: ₹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total_expense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:,.2f}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Net Savings: ₹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net_savings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:,.2f}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Savings Rate: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savings_rate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Top expense category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top_expense_cat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expense_categories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expense_categories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"N/A"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top_expense_amount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expense_categories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iloc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expense_categories</a:t>
            </a:r>
            <a:r>
              <a:rPr lang="en-IN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Highest expense category: 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top_expense_cat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(₹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top_expense_amount</a:t>
            </a:r>
            <a:r>
              <a:rPr lang="en-IN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:,.2f}</a:t>
            </a:r>
            <a:r>
              <a:rPr lang="en-IN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1FEDA-611F-9C9D-9DB7-61C279C97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96" y="1895294"/>
            <a:ext cx="4308050" cy="1054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E83453-08B2-A1DE-8F48-4F3048BD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34" y="5330275"/>
            <a:ext cx="4845377" cy="35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98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023" y="84843"/>
            <a:ext cx="9176648" cy="580175"/>
          </a:xfrm>
        </p:spPr>
        <p:txBody>
          <a:bodyPr>
            <a:normAutofit/>
          </a:bodyPr>
          <a:lstStyle/>
          <a:p>
            <a:r>
              <a:rPr lang="en-IN" sz="2400" dirty="0"/>
              <a:t>Python: Key Insights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534" y="584462"/>
            <a:ext cx="9671901" cy="5703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Average transaction amounts</a:t>
            </a: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avg_income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avg_expense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'Income/Expense'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'Expense'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'Amount'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Average income per transaction: ₹</a:t>
            </a:r>
            <a:r>
              <a:rPr lang="en-IN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avg_income</a:t>
            </a:r>
            <a:r>
              <a:rPr lang="en-IN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Average expense per transaction: ₹</a:t>
            </a:r>
            <a:r>
              <a:rPr lang="en-IN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avg_expense</a:t>
            </a:r>
            <a:r>
              <a:rPr lang="en-IN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:.2f}</a:t>
            </a:r>
            <a:r>
              <a:rPr lang="en-IN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5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Most used payment mode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top_payment_mode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value_counts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Most used payment mode: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top_payment_mode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50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savings_rate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Consider increasing your savings rate. Aim for at least 20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 o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 income."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  • Great job! Your savings rate is healthy."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B9FF4-4A01-1E00-EFDA-820673A51409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05D60-AF30-E2AD-F8A9-A101C89FF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40" y="2109654"/>
            <a:ext cx="5075360" cy="381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DCD91F-748D-099C-30DF-D66E84B12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40" y="3795134"/>
            <a:ext cx="5075360" cy="434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23B7F1-7ED1-4BC8-93CD-644AD3FB1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34" y="5907746"/>
            <a:ext cx="56850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677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291" y="1"/>
            <a:ext cx="1894787" cy="575034"/>
          </a:xfrm>
        </p:spPr>
        <p:txBody>
          <a:bodyPr>
            <a:normAutofit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9180A-B506-7080-5F96-0B166FD13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15" y="575035"/>
            <a:ext cx="11626392" cy="5740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76BC8F-4D01-10C3-DE1C-A99FF4CFDCC7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3439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877" y="1"/>
            <a:ext cx="1989055" cy="484682"/>
          </a:xfrm>
        </p:spPr>
        <p:txBody>
          <a:bodyPr>
            <a:noAutofit/>
          </a:bodyPr>
          <a:lstStyle/>
          <a:p>
            <a:r>
              <a:rPr lang="en-IN" sz="3200" dirty="0"/>
              <a:t>Power BI 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623EC-251F-838A-ED80-09A9BA710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95" y="597846"/>
            <a:ext cx="11522697" cy="57746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38514E-28AB-4F08-F9AE-68B7AF012F31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635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671" y="1"/>
            <a:ext cx="1789981" cy="678730"/>
          </a:xfrm>
        </p:spPr>
        <p:txBody>
          <a:bodyPr>
            <a:normAutofit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A9E4D-5A6D-2E0D-409C-A4C689B5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96" y="678730"/>
            <a:ext cx="11607538" cy="56089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E5745A-ABED-4BF7-8319-FC2BFC7F330D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1437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107" y="1"/>
            <a:ext cx="1743959" cy="556180"/>
          </a:xfrm>
        </p:spPr>
        <p:txBody>
          <a:bodyPr>
            <a:normAutofit/>
          </a:bodyPr>
          <a:lstStyle/>
          <a:p>
            <a:r>
              <a:rPr lang="en-IN" sz="3200" dirty="0"/>
              <a:t>Power BI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49600-25AF-5170-BDAC-8CDA4E87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2" y="556180"/>
            <a:ext cx="11538408" cy="58634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B26B2A0-8ADF-E074-1E44-AD62ED9D1633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467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59" y="0"/>
            <a:ext cx="11161336" cy="546755"/>
          </a:xfrm>
        </p:spPr>
        <p:txBody>
          <a:bodyPr>
            <a:noAutofit/>
          </a:bodyPr>
          <a:lstStyle/>
          <a:p>
            <a:r>
              <a:rPr lang="en-US" sz="3200" dirty="0"/>
              <a:t>Daily Household Transaction Analysis – Problem, Solution &amp; Result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354" y="546755"/>
            <a:ext cx="9879291" cy="58257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Problem: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Limited visibility into daily financial activities made it difficult to monitor expenses, track income patterns, and identify savings opportunities.</a:t>
            </a: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Solution: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IN" sz="1800" b="1" dirty="0"/>
              <a:t>•</a:t>
            </a:r>
            <a:r>
              <a:rPr lang="en-IN" sz="1800" b="1" dirty="0">
                <a:solidFill>
                  <a:srgbClr val="FFC000"/>
                </a:solidFill>
              </a:rPr>
              <a:t> </a:t>
            </a:r>
            <a:r>
              <a:rPr lang="en-US" sz="1800" dirty="0"/>
              <a:t>Cleaned and structured transaction data using </a:t>
            </a:r>
            <a:r>
              <a:rPr lang="en-US" sz="1800" b="1" dirty="0"/>
              <a:t>Python</a:t>
            </a:r>
            <a:r>
              <a:rPr lang="en-US" sz="1800" dirty="0"/>
              <a:t> and </a:t>
            </a:r>
            <a:r>
              <a:rPr lang="en-US" sz="1800" b="1" dirty="0"/>
              <a:t>SQL</a:t>
            </a:r>
            <a:r>
              <a:rPr lang="en-US" sz="1800" dirty="0"/>
              <a:t> for analysis.</a:t>
            </a:r>
          </a:p>
          <a:p>
            <a:pPr marL="0" indent="0">
              <a:buNone/>
            </a:pPr>
            <a:r>
              <a:rPr lang="en-IN" sz="1800" dirty="0"/>
              <a:t>• </a:t>
            </a:r>
            <a:r>
              <a:rPr lang="en-US" sz="1800" dirty="0"/>
              <a:t>Performed </a:t>
            </a:r>
            <a:r>
              <a:rPr lang="en-US" sz="1800" b="1" dirty="0"/>
              <a:t>Exploratory Data Analysis (EDA)</a:t>
            </a:r>
            <a:r>
              <a:rPr lang="en-US" sz="1800" dirty="0"/>
              <a:t> to detect spending trends and anomalies.</a:t>
            </a:r>
          </a:p>
          <a:p>
            <a:pPr marL="0" indent="0">
              <a:buNone/>
            </a:pPr>
            <a:r>
              <a:rPr lang="en-IN" sz="1800" dirty="0"/>
              <a:t>• </a:t>
            </a:r>
            <a:r>
              <a:rPr lang="en-US" sz="1800" dirty="0"/>
              <a:t>Built an interactive </a:t>
            </a:r>
            <a:r>
              <a:rPr lang="en-US" sz="1800" b="1" dirty="0"/>
              <a:t>Power BI dashboard</a:t>
            </a:r>
            <a:r>
              <a:rPr lang="en-US" sz="1800" dirty="0"/>
              <a:t> to visualize daily, weekly, and monthly expense insights.</a:t>
            </a:r>
          </a:p>
          <a:p>
            <a:pPr marL="0" indent="0">
              <a:buNone/>
            </a:pPr>
            <a:r>
              <a:rPr lang="en-IN" sz="1800" dirty="0"/>
              <a:t>• </a:t>
            </a:r>
            <a:r>
              <a:rPr lang="en-US" sz="1800" dirty="0"/>
              <a:t>Calculated key metrics such as total income, total expenses, average transaction value, and savings percentage.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2400" b="1" dirty="0">
                <a:solidFill>
                  <a:srgbClr val="FFC000"/>
                </a:solidFill>
              </a:rPr>
              <a:t>Result: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IN" sz="1800" b="1" dirty="0"/>
              <a:t>•</a:t>
            </a:r>
            <a:r>
              <a:rPr lang="en-IN" sz="1800" b="1" dirty="0">
                <a:solidFill>
                  <a:srgbClr val="FFC000"/>
                </a:solidFill>
              </a:rPr>
              <a:t> </a:t>
            </a:r>
            <a:r>
              <a:rPr lang="en-US" sz="1800" dirty="0"/>
              <a:t>Identified top expense categories and peak spending days.</a:t>
            </a:r>
            <a:br>
              <a:rPr lang="en-US" sz="1800" dirty="0"/>
            </a:br>
            <a:r>
              <a:rPr lang="en-IN" sz="1800" dirty="0"/>
              <a:t>• </a:t>
            </a:r>
            <a:r>
              <a:rPr lang="en-US" sz="1800" dirty="0"/>
              <a:t>Improved understanding of income vs expense balance and cash flow patterns.</a:t>
            </a:r>
            <a:br>
              <a:rPr lang="en-US" sz="1800" dirty="0"/>
            </a:br>
            <a:r>
              <a:rPr lang="en-IN" sz="1800" dirty="0"/>
              <a:t>• </a:t>
            </a:r>
            <a:r>
              <a:rPr lang="en-US" sz="1800" dirty="0"/>
              <a:t>Provided actionable insights for </a:t>
            </a:r>
            <a:r>
              <a:rPr lang="en-US" sz="1800" b="1" dirty="0"/>
              <a:t>better budgeting and savings optimization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IN" sz="1800" dirty="0"/>
              <a:t>• </a:t>
            </a:r>
            <a:r>
              <a:rPr lang="en-US" sz="1800" dirty="0"/>
              <a:t>Enabled data-driven decision-making for personal finance management.</a:t>
            </a:r>
            <a:br>
              <a:rPr lang="en-US" sz="1800" b="1" dirty="0"/>
            </a:br>
            <a:endParaRPr lang="en-US" sz="1800" b="1" dirty="0"/>
          </a:p>
          <a:p>
            <a:pPr marL="0" indent="0">
              <a:buNone/>
            </a:pP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4427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7" y="0"/>
            <a:ext cx="11510128" cy="546755"/>
          </a:xfrm>
        </p:spPr>
        <p:txBody>
          <a:bodyPr>
            <a:noAutofit/>
          </a:bodyPr>
          <a:lstStyle/>
          <a:p>
            <a:r>
              <a:rPr lang="en-US" sz="3200" dirty="0"/>
              <a:t>Project Highlights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2" y="546755"/>
            <a:ext cx="10272074" cy="58257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Dataset size:</a:t>
            </a:r>
          </a:p>
          <a:p>
            <a:pPr marL="0" indent="0">
              <a:buNone/>
            </a:pPr>
            <a:r>
              <a:rPr lang="en-US" sz="1800" dirty="0"/>
              <a:t>• ~ 2461 rows • ~ 8 columns</a:t>
            </a:r>
            <a:endParaRPr lang="en-US" sz="18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Tools Used: </a:t>
            </a:r>
            <a:br>
              <a:rPr lang="en-US" sz="1800" b="1" dirty="0">
                <a:solidFill>
                  <a:srgbClr val="FFC000"/>
                </a:solidFill>
              </a:rPr>
            </a:br>
            <a:r>
              <a:rPr lang="en-IN" sz="1800" dirty="0"/>
              <a:t>Python, Power BI, Excel</a:t>
            </a: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US" sz="1800" dirty="0"/>
              <a:t>• Identified top expense categories and peak spending days</a:t>
            </a:r>
            <a:br>
              <a:rPr lang="en-US" sz="1800" dirty="0"/>
            </a:br>
            <a:r>
              <a:rPr lang="en-US" sz="1800" dirty="0"/>
              <a:t>• Calculated savings rate, net income, monthly trends</a:t>
            </a:r>
            <a:br>
              <a:rPr lang="en-US" sz="1800" dirty="0"/>
            </a:br>
            <a:r>
              <a:rPr lang="en-US" sz="1800" dirty="0"/>
              <a:t>• Highlighted imbalance in income vs expense distribution</a:t>
            </a:r>
            <a:br>
              <a:rPr lang="en-US" sz="1800" dirty="0"/>
            </a:br>
            <a:r>
              <a:rPr lang="en-US" sz="1800" dirty="0"/>
              <a:t>• Most used payment modes: UPI / Cash</a:t>
            </a:r>
            <a:br>
              <a:rPr lang="en-US" sz="1800" b="1" dirty="0">
                <a:solidFill>
                  <a:srgbClr val="FFC000"/>
                </a:solidFill>
              </a:rPr>
            </a:b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2400" b="1" dirty="0">
                <a:solidFill>
                  <a:srgbClr val="FFC000"/>
                </a:solidFill>
              </a:rPr>
              <a:t>Model Used:</a:t>
            </a:r>
          </a:p>
          <a:p>
            <a:pPr marL="0" indent="0">
              <a:buNone/>
            </a:pPr>
            <a:r>
              <a:rPr lang="en-IN" sz="1800" dirty="0"/>
              <a:t>(No ML model — EDA-based analysis)</a:t>
            </a:r>
            <a:endParaRPr lang="en-US" sz="18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</a:rPr>
              <a:t>Final Outcome:</a:t>
            </a:r>
            <a:br>
              <a:rPr lang="en-US" sz="1800" b="1" dirty="0">
                <a:solidFill>
                  <a:srgbClr val="FFC000"/>
                </a:solidFill>
              </a:rPr>
            </a:br>
            <a:r>
              <a:rPr lang="en-US" sz="1800" dirty="0"/>
              <a:t>Created a full financial analysis dashboard showing spending patterns, savings behavior, and areas for improving personal budgeting.</a:t>
            </a:r>
            <a:br>
              <a:rPr lang="en-US" sz="1800" b="1" dirty="0"/>
            </a:br>
            <a:endParaRPr lang="en-US" sz="1800" b="1" dirty="0"/>
          </a:p>
          <a:p>
            <a:pPr marL="0" indent="0">
              <a:buNone/>
            </a:pPr>
            <a:br>
              <a:rPr lang="en-US" sz="1800" dirty="0"/>
            </a:br>
            <a:endParaRPr lang="en-US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8901C-DF7E-3544-64DC-DB100462405E}"/>
              </a:ext>
            </a:extLst>
          </p:cNvPr>
          <p:cNvSpPr/>
          <p:nvPr/>
        </p:nvSpPr>
        <p:spPr>
          <a:xfrm>
            <a:off x="0" y="6485682"/>
            <a:ext cx="12192000" cy="3723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5358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ED4DA6-E16F-753D-55A4-83D99220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85" y="216815"/>
            <a:ext cx="11036365" cy="6127424"/>
          </a:xfrm>
        </p:spPr>
        <p:txBody>
          <a:bodyPr>
            <a:noAutofit/>
          </a:bodyPr>
          <a:lstStyle/>
          <a:p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🔚</a:t>
            </a:r>
            <a:r>
              <a:rPr lang="en-US" sz="4000" b="1" dirty="0"/>
              <a:t> </a:t>
            </a:r>
            <a:r>
              <a:rPr lang="en-US" sz="4000" dirty="0"/>
              <a:t>Conclusion</a:t>
            </a:r>
            <a:br>
              <a:rPr lang="en-US" sz="4000" b="1" dirty="0"/>
            </a:br>
            <a:br>
              <a:rPr lang="en-US" sz="1800" b="1" dirty="0"/>
            </a:br>
            <a:r>
              <a:rPr lang="en-US" sz="1800" dirty="0">
                <a:latin typeface="+mn-lt"/>
              </a:rPr>
              <a:t>This internship allowed me to work on 4 real-world, end-to-end analytics projects involving: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r>
              <a:rPr lang="en-IN" sz="1800" dirty="0">
                <a:latin typeface="+mn-lt"/>
              </a:rPr>
              <a:t>• </a:t>
            </a:r>
            <a:r>
              <a:rPr lang="en-US" sz="1800" dirty="0">
                <a:latin typeface="+mn-lt"/>
              </a:rPr>
              <a:t>Data Cleaning</a:t>
            </a:r>
            <a:br>
              <a:rPr lang="en-US" sz="1800" dirty="0">
                <a:latin typeface="+mn-lt"/>
              </a:rPr>
            </a:br>
            <a:r>
              <a:rPr lang="en-IN" sz="1800" dirty="0">
                <a:latin typeface="+mn-lt"/>
              </a:rPr>
              <a:t>• </a:t>
            </a:r>
            <a:r>
              <a:rPr lang="en-US" sz="1800" dirty="0">
                <a:latin typeface="+mn-lt"/>
              </a:rPr>
              <a:t>Exploratory Data Analysis</a:t>
            </a:r>
            <a:br>
              <a:rPr lang="en-US" sz="1800" dirty="0">
                <a:latin typeface="+mn-lt"/>
              </a:rPr>
            </a:br>
            <a:r>
              <a:rPr lang="en-IN" sz="1800" dirty="0">
                <a:latin typeface="+mn-lt"/>
              </a:rPr>
              <a:t>• </a:t>
            </a:r>
            <a:r>
              <a:rPr lang="en-US" sz="1800" dirty="0">
                <a:latin typeface="+mn-lt"/>
              </a:rPr>
              <a:t>SQL Queries</a:t>
            </a:r>
            <a:br>
              <a:rPr lang="en-US" sz="1800" dirty="0">
                <a:latin typeface="+mn-lt"/>
              </a:rPr>
            </a:br>
            <a:r>
              <a:rPr lang="en-IN" sz="1800" dirty="0">
                <a:latin typeface="+mn-lt"/>
              </a:rPr>
              <a:t>• </a:t>
            </a:r>
            <a:r>
              <a:rPr lang="en-US" sz="1800" dirty="0">
                <a:latin typeface="+mn-lt"/>
              </a:rPr>
              <a:t>Machine Learning Models</a:t>
            </a:r>
            <a:br>
              <a:rPr lang="en-US" sz="1800" dirty="0">
                <a:latin typeface="+mn-lt"/>
              </a:rPr>
            </a:br>
            <a:r>
              <a:rPr lang="en-IN" sz="1800" dirty="0">
                <a:latin typeface="+mn-lt"/>
              </a:rPr>
              <a:t>• </a:t>
            </a:r>
            <a:r>
              <a:rPr lang="en-US" sz="1800" dirty="0">
                <a:latin typeface="+mn-lt"/>
              </a:rPr>
              <a:t>Power BI Dashboard Development</a:t>
            </a:r>
            <a:br>
              <a:rPr lang="en-US" sz="1800" dirty="0">
                <a:latin typeface="+mn-lt"/>
              </a:rPr>
            </a:br>
            <a:r>
              <a:rPr lang="en-IN" sz="1800" dirty="0">
                <a:latin typeface="+mn-lt"/>
              </a:rPr>
              <a:t>• </a:t>
            </a:r>
            <a:r>
              <a:rPr lang="en-US" sz="1800" dirty="0">
                <a:latin typeface="+mn-lt"/>
              </a:rPr>
              <a:t>Business Insights &amp; Reporting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Each project strengthened my skills in </a:t>
            </a:r>
            <a:r>
              <a:rPr lang="en-US" sz="1800" b="1" dirty="0">
                <a:latin typeface="+mn-lt"/>
              </a:rPr>
              <a:t>Python, SQL, Power BI, Excel, and storytelling</a:t>
            </a:r>
            <a:r>
              <a:rPr lang="en-US" sz="1800" dirty="0">
                <a:latin typeface="+mn-lt"/>
              </a:rPr>
              <a:t>, and helped me solve real analytical problems through data-driven insights.</a:t>
            </a:r>
            <a:br>
              <a:rPr lang="en-US" sz="1800" dirty="0">
                <a:latin typeface="+mn-lt"/>
              </a:rPr>
            </a:br>
            <a:br>
              <a:rPr lang="en-US" sz="1800" dirty="0"/>
            </a:br>
            <a:br>
              <a:rPr lang="en-US" sz="1800" dirty="0"/>
            </a:br>
            <a:r>
              <a:rPr lang="en-US" sz="4000" dirty="0"/>
              <a:t>Thank You</a:t>
            </a:r>
            <a:br>
              <a:rPr lang="en-US" sz="4000" b="1" dirty="0"/>
            </a:br>
            <a:br>
              <a:rPr lang="en-US" sz="1800" b="1" dirty="0"/>
            </a:br>
            <a:r>
              <a:rPr lang="en-US" sz="1800" dirty="0">
                <a:latin typeface="+mn-lt"/>
              </a:rPr>
              <a:t>Thank you for reviewing my work!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I appreciate this learning opportunity with </a:t>
            </a:r>
            <a:r>
              <a:rPr lang="en-US" sz="1800" b="1" dirty="0">
                <a:latin typeface="+mn-lt"/>
              </a:rPr>
              <a:t>Unified Mentor</a:t>
            </a:r>
            <a:r>
              <a:rPr lang="en-US" sz="1800" dirty="0">
                <a:latin typeface="+mn-lt"/>
              </a:rPr>
              <a:t> and look forward to applying these skills to future analytics challenges.</a:t>
            </a:r>
            <a:br>
              <a:rPr lang="en-US" sz="800" dirty="0"/>
            </a:br>
            <a:br>
              <a:rPr lang="en-US" sz="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01831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748</TotalTime>
  <Words>7742</Words>
  <Application>Microsoft Office PowerPoint</Application>
  <PresentationFormat>Widescreen</PresentationFormat>
  <Paragraphs>715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Arial</vt:lpstr>
      <vt:lpstr>Book Antiqua</vt:lpstr>
      <vt:lpstr>Calibri</vt:lpstr>
      <vt:lpstr>Calibri Light</vt:lpstr>
      <vt:lpstr>Cambria</vt:lpstr>
      <vt:lpstr>Consolas</vt:lpstr>
      <vt:lpstr>Office Theme</vt:lpstr>
      <vt:lpstr>Data Analytics Internship  Projects</vt:lpstr>
      <vt:lpstr>Tools &amp; Technologies Used</vt:lpstr>
      <vt:lpstr>Project Overview</vt:lpstr>
      <vt:lpstr>Summary of Project Goals</vt:lpstr>
      <vt:lpstr>Tools &amp; Workflow</vt:lpstr>
      <vt:lpstr>  Project 1: Supply Chain Management Analysis</vt:lpstr>
      <vt:lpstr>Python: Data Preparation</vt:lpstr>
      <vt:lpstr>Python: Data Cleaning &amp; Preparation</vt:lpstr>
      <vt:lpstr>Python: Exploratory Data Analysis</vt:lpstr>
      <vt:lpstr>Python: Exploratory Data Analysis</vt:lpstr>
      <vt:lpstr>Python: Feature Engineering </vt:lpstr>
      <vt:lpstr>Python: Model Building </vt:lpstr>
      <vt:lpstr>Python: Data Building &amp; Evalution</vt:lpstr>
      <vt:lpstr>Power BI </vt:lpstr>
      <vt:lpstr>Power BI</vt:lpstr>
      <vt:lpstr>Power BI</vt:lpstr>
      <vt:lpstr>SQL</vt:lpstr>
      <vt:lpstr>Supply Chain Management Analysis – Problem, Solution &amp; Result</vt:lpstr>
      <vt:lpstr>Project Highlights</vt:lpstr>
      <vt:lpstr>Project 2: Google Play Store Apps Rating Analysis</vt:lpstr>
      <vt:lpstr>Python: Data Preparation</vt:lpstr>
      <vt:lpstr>Python: Data Cleaning</vt:lpstr>
      <vt:lpstr>Python: Exploratory Data Analysis</vt:lpstr>
      <vt:lpstr>Python: Exploratory Data Analysis</vt:lpstr>
      <vt:lpstr>Python: Data Modeling &amp; Evaluation</vt:lpstr>
      <vt:lpstr>Python: New Prediction</vt:lpstr>
      <vt:lpstr>Power BI</vt:lpstr>
      <vt:lpstr>Power BI</vt:lpstr>
      <vt:lpstr>Power BI</vt:lpstr>
      <vt:lpstr>SQL</vt:lpstr>
      <vt:lpstr>SQL</vt:lpstr>
      <vt:lpstr>Google Play Store App Rating Analysis – Problem, Solution &amp; Result</vt:lpstr>
      <vt:lpstr>Project Highlights</vt:lpstr>
      <vt:lpstr>Project 3: Customer Satisfaction Analysis</vt:lpstr>
      <vt:lpstr>Python: Data Preparation</vt:lpstr>
      <vt:lpstr>Python: Data Cleaning</vt:lpstr>
      <vt:lpstr>Python : Feature Engineering &amp; Exploratory Data Analysis</vt:lpstr>
      <vt:lpstr>Python : Exploratory Data Analysis</vt:lpstr>
      <vt:lpstr>Python : Model Building</vt:lpstr>
      <vt:lpstr>Python: Model Evalution</vt:lpstr>
      <vt:lpstr>Python: New Prediction</vt:lpstr>
      <vt:lpstr>Power BI</vt:lpstr>
      <vt:lpstr>Power BI</vt:lpstr>
      <vt:lpstr>SQL</vt:lpstr>
      <vt:lpstr>SQL</vt:lpstr>
      <vt:lpstr>Customer Satisfaction Analysis – Problem, Solution &amp; Result</vt:lpstr>
      <vt:lpstr>Project Highlights</vt:lpstr>
      <vt:lpstr>Project 4: Daily Transaction Analysis</vt:lpstr>
      <vt:lpstr>Python: Data Preparation</vt:lpstr>
      <vt:lpstr>Python: Data Preparation</vt:lpstr>
      <vt:lpstr>Python: Feature Engineering &amp; Exploratory Data Analysis</vt:lpstr>
      <vt:lpstr>Python: Exploratory Data Analysis</vt:lpstr>
      <vt:lpstr>Python: Exploratory Data Analysis</vt:lpstr>
      <vt:lpstr>Python: Exploratory Data Analysis</vt:lpstr>
      <vt:lpstr>Python: Exploratory Data Analysis</vt:lpstr>
      <vt:lpstr>Python: Exploratory Data Analysis</vt:lpstr>
      <vt:lpstr>Python: Key Insights</vt:lpstr>
      <vt:lpstr>Python: Key Insights</vt:lpstr>
      <vt:lpstr>Power BI</vt:lpstr>
      <vt:lpstr>Power BI </vt:lpstr>
      <vt:lpstr>Power BI</vt:lpstr>
      <vt:lpstr>Power BI</vt:lpstr>
      <vt:lpstr>Daily Household Transaction Analysis – Problem, Solution &amp; Result</vt:lpstr>
      <vt:lpstr>Project Highlights</vt:lpstr>
      <vt:lpstr>🔚 Conclusion  This internship allowed me to work on 4 real-world, end-to-end analytics projects involving:  • Data Cleaning • Exploratory Data Analysis • SQL Queries • Machine Learning Models • Power BI Dashboard Development • Business Insights &amp; Reporting  Each project strengthened my skills in Python, SQL, Power BI, Excel, and storytelling, and helped me solve real analytical problems through data-driven insights.   Thank You  Thank you for reviewing my work! I appreciate this learning opportunity with Unified Mentor and look forward to applying these skills to future analytics challenges.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Kavita Bijarniya</cp:lastModifiedBy>
  <cp:revision>14</cp:revision>
  <dcterms:created xsi:type="dcterms:W3CDTF">2013-01-27T09:14:16Z</dcterms:created>
  <dcterms:modified xsi:type="dcterms:W3CDTF">2025-11-29T07:52:11Z</dcterms:modified>
  <cp:category/>
</cp:coreProperties>
</file>